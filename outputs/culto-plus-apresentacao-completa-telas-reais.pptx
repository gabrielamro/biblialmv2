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a0b16410da4134" /><Relationship Type="http://schemas.openxmlformats.org/officeDocument/2006/relationships/extended-properties" Target="/docProps/app.xml" Id="R67a82f0e989d4e48" /><Relationship Type="http://schemas.openxmlformats.org/officeDocument/2006/relationships/officeDocument" Target="/ppt/presentation.xml" Id="R01eb7a67139b48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dc060e500f4d67"/>
  </p:sldMasterIdLst>
  <p:notesMasterIdLst>
    <p:notesMasterId xmlns:r="http://schemas.openxmlformats.org/officeDocument/2006/relationships" r:id="R62eddc4e380f4c63"/>
  </p:notesMasterIdLst>
  <p:sldIdLst>
    <p:sldId xmlns:r="http://schemas.openxmlformats.org/officeDocument/2006/relationships" id="256" r:id="R8e272e6d72e74f06"/>
    <p:sldId xmlns:r="http://schemas.openxmlformats.org/officeDocument/2006/relationships" id="257" r:id="R0f2624bf2d914a61"/>
    <p:sldId xmlns:r="http://schemas.openxmlformats.org/officeDocument/2006/relationships" id="258" r:id="R181604518b6248b9"/>
    <p:sldId xmlns:r="http://schemas.openxmlformats.org/officeDocument/2006/relationships" id="259" r:id="Re5b6cb0fe48944bf"/>
    <p:sldId xmlns:r="http://schemas.openxmlformats.org/officeDocument/2006/relationships" id="260" r:id="R1a4b4ad2eccf47f3"/>
    <p:sldId xmlns:r="http://schemas.openxmlformats.org/officeDocument/2006/relationships" id="261" r:id="Rcc9caebd0e934ebe"/>
    <p:sldId xmlns:r="http://schemas.openxmlformats.org/officeDocument/2006/relationships" id="262" r:id="Raad63e2e4fec4804"/>
    <p:sldId xmlns:r="http://schemas.openxmlformats.org/officeDocument/2006/relationships" id="263" r:id="R362a683a22434762"/>
    <p:sldId xmlns:r="http://schemas.openxmlformats.org/officeDocument/2006/relationships" id="264" r:id="R3ca5ea1079fc4654"/>
    <p:sldId xmlns:r="http://schemas.openxmlformats.org/officeDocument/2006/relationships" id="265" r:id="R71935cbd7c824bde"/>
    <p:sldId xmlns:r="http://schemas.openxmlformats.org/officeDocument/2006/relationships" id="266" r:id="Rb239f0a379fb46aa"/>
    <p:sldId xmlns:r="http://schemas.openxmlformats.org/officeDocument/2006/relationships" id="267" r:id="R096d86feb3794e4b"/>
    <p:sldId xmlns:r="http://schemas.openxmlformats.org/officeDocument/2006/relationships" id="268" r:id="Rb6b97b9f074b4fe9"/>
    <p:sldId xmlns:r="http://schemas.openxmlformats.org/officeDocument/2006/relationships" id="269" r:id="Rd792d8ef83ae4ae8"/>
    <p:sldId xmlns:r="http://schemas.openxmlformats.org/officeDocument/2006/relationships" id="270" r:id="Rf82d8cace21346a2"/>
    <p:sldId xmlns:r="http://schemas.openxmlformats.org/officeDocument/2006/relationships" id="271" r:id="Rc7ea8d5e87874388"/>
    <p:sldId xmlns:r="http://schemas.openxmlformats.org/officeDocument/2006/relationships" id="272" r:id="R6f333363c86f4338"/>
    <p:sldId xmlns:r="http://schemas.openxmlformats.org/officeDocument/2006/relationships" id="273" r:id="R90f0d5da32d94ec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022ab71d5d47ef" /><Relationship Type="http://schemas.openxmlformats.org/officeDocument/2006/relationships/slideMaster" Target="/ppt/slideMasters/slideMaster1.xml" Id="R5bdc060e500f4d67" /><Relationship Type="http://schemas.openxmlformats.org/officeDocument/2006/relationships/notesMaster" Target="/ppt/notesMasters/notesMaster1.xml" Id="R62eddc4e380f4c63" /><Relationship Type="http://schemas.openxmlformats.org/officeDocument/2006/relationships/presProps" Target="/ppt/presProps.xml" Id="Raa0a1f83c38f4954" /><Relationship Type="http://schemas.openxmlformats.org/officeDocument/2006/relationships/tableStyles" Target="/ppt/tableStyles.xml" Id="Rf3c521394ef745e5" /><Relationship Type="http://schemas.openxmlformats.org/officeDocument/2006/relationships/slide" Target="/ppt/slides/slide1.xml" Id="R8e272e6d72e74f06" /><Relationship Type="http://schemas.openxmlformats.org/officeDocument/2006/relationships/slide" Target="/ppt/slides/slide2.xml" Id="R0f2624bf2d914a61" /><Relationship Type="http://schemas.openxmlformats.org/officeDocument/2006/relationships/slide" Target="/ppt/slides/slide3.xml" Id="R181604518b6248b9" /><Relationship Type="http://schemas.openxmlformats.org/officeDocument/2006/relationships/slide" Target="/ppt/slides/slide4.xml" Id="Re5b6cb0fe48944bf" /><Relationship Type="http://schemas.openxmlformats.org/officeDocument/2006/relationships/slide" Target="/ppt/slides/slide5.xml" Id="R1a4b4ad2eccf47f3" /><Relationship Type="http://schemas.openxmlformats.org/officeDocument/2006/relationships/slide" Target="/ppt/slides/slide6.xml" Id="Rcc9caebd0e934ebe" /><Relationship Type="http://schemas.openxmlformats.org/officeDocument/2006/relationships/slide" Target="/ppt/slides/slide7.xml" Id="Raad63e2e4fec4804" /><Relationship Type="http://schemas.openxmlformats.org/officeDocument/2006/relationships/slide" Target="/ppt/slides/slide8.xml" Id="R362a683a22434762" /><Relationship Type="http://schemas.openxmlformats.org/officeDocument/2006/relationships/slide" Target="/ppt/slides/slide9.xml" Id="R3ca5ea1079fc4654" /><Relationship Type="http://schemas.openxmlformats.org/officeDocument/2006/relationships/slide" Target="/ppt/slides/slide10.xml" Id="R71935cbd7c824bde" /><Relationship Type="http://schemas.openxmlformats.org/officeDocument/2006/relationships/slide" Target="/ppt/slides/slide11.xml" Id="Rb239f0a379fb46aa" /><Relationship Type="http://schemas.openxmlformats.org/officeDocument/2006/relationships/slide" Target="/ppt/slides/slide12.xml" Id="R096d86feb3794e4b" /><Relationship Type="http://schemas.openxmlformats.org/officeDocument/2006/relationships/slide" Target="/ppt/slides/slide13.xml" Id="Rb6b97b9f074b4fe9" /><Relationship Type="http://schemas.openxmlformats.org/officeDocument/2006/relationships/slide" Target="/ppt/slides/slide14.xml" Id="Rd792d8ef83ae4ae8" /><Relationship Type="http://schemas.openxmlformats.org/officeDocument/2006/relationships/slide" Target="/ppt/slides/slide15.xml" Id="Rf82d8cace21346a2" /><Relationship Type="http://schemas.openxmlformats.org/officeDocument/2006/relationships/slide" Target="/ppt/slides/slide16.xml" Id="Rc7ea8d5e87874388" /><Relationship Type="http://schemas.openxmlformats.org/officeDocument/2006/relationships/slide" Target="/ppt/slides/slide17.xml" Id="R6f333363c86f4338" /><Relationship Type="http://schemas.openxmlformats.org/officeDocument/2006/relationships/slide" Target="/ppt/slides/slide18.xml" Id="R90f0d5da32d94e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10754e9be44c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dfd14003ba45d5" /><Relationship Type="http://schemas.openxmlformats.org/officeDocument/2006/relationships/notesMaster" Target="/ppt/notesMasters/notesMaster1.xml" Id="R0dc0f584d64b49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77160132ca43ed" /><Relationship Type="http://schemas.openxmlformats.org/officeDocument/2006/relationships/notesMaster" Target="/ppt/notesMasters/notesMaster1.xml" Id="R7505b77eab9a45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35f76609c64ef5" /><Relationship Type="http://schemas.openxmlformats.org/officeDocument/2006/relationships/notesMaster" Target="/ppt/notesMasters/notesMaster1.xml" Id="Rbc51943e76a046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be492dbf824321" /><Relationship Type="http://schemas.openxmlformats.org/officeDocument/2006/relationships/notesMaster" Target="/ppt/notesMasters/notesMaster1.xml" Id="Rd3820deac78b47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0f4f08388774fe0" /><Relationship Type="http://schemas.openxmlformats.org/officeDocument/2006/relationships/notesMaster" Target="/ppt/notesMasters/notesMaster1.xml" Id="Rb914400ac6944d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09560cd8624de0" /><Relationship Type="http://schemas.openxmlformats.org/officeDocument/2006/relationships/notesMaster" Target="/ppt/notesMasters/notesMaster1.xml" Id="R8740117a6d9b4e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70c4018d764014" /><Relationship Type="http://schemas.openxmlformats.org/officeDocument/2006/relationships/notesMaster" Target="/ppt/notesMasters/notesMaster1.xml" Id="Ra6179e7338c2485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6e73f17f2cb4456" /><Relationship Type="http://schemas.openxmlformats.org/officeDocument/2006/relationships/notesMaster" Target="/ppt/notesMasters/notesMaster1.xml" Id="Rf0b200000bb34a9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f3dcb3cb4ca4d31" /><Relationship Type="http://schemas.openxmlformats.org/officeDocument/2006/relationships/notesMaster" Target="/ppt/notesMasters/notesMaster1.xml" Id="R81147e85368f43c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4264cd0756847d7" /><Relationship Type="http://schemas.openxmlformats.org/officeDocument/2006/relationships/notesMaster" Target="/ppt/notesMasters/notesMaster1.xml" Id="R015c69c49bba463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f315b29acdd40af" /><Relationship Type="http://schemas.openxmlformats.org/officeDocument/2006/relationships/notesMaster" Target="/ppt/notesMasters/notesMaster1.xml" Id="Rf24e1f8ce8dd410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85a1e175f3a469a" /><Relationship Type="http://schemas.openxmlformats.org/officeDocument/2006/relationships/notesMaster" Target="/ppt/notesMasters/notesMaster1.xml" Id="R759b7f8833fe432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90839cee4e04ba0" /><Relationship Type="http://schemas.openxmlformats.org/officeDocument/2006/relationships/notesMaster" Target="/ppt/notesMasters/notesMaster1.xml" Id="R37dfb28bfc7a41a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544fa140f0b4697" /><Relationship Type="http://schemas.openxmlformats.org/officeDocument/2006/relationships/notesMaster" Target="/ppt/notesMasters/notesMaster1.xml" Id="R1b3964034341479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3557088868a4ba3" /><Relationship Type="http://schemas.openxmlformats.org/officeDocument/2006/relationships/notesMaster" Target="/ppt/notesMasters/notesMaster1.xml" Id="Re0689791ee88456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416782795a64373" /><Relationship Type="http://schemas.openxmlformats.org/officeDocument/2006/relationships/notesMaster" Target="/ppt/notesMasters/notesMaster1.xml" Id="Rb51b2d26771f4c1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5f90a0d2e384474" /><Relationship Type="http://schemas.openxmlformats.org/officeDocument/2006/relationships/notesMaster" Target="/ppt/notesMasters/notesMaster1.xml" Id="Rf47358fc7d0a41f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fd76afd4e014c3b" /><Relationship Type="http://schemas.openxmlformats.org/officeDocument/2006/relationships/notesMaster" Target="/ppt/notesMasters/notesMaster1.xml" Id="R4477f278640e4d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ccebef085c47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c9cd0764f7414f" /><Relationship Type="http://schemas.openxmlformats.org/officeDocument/2006/relationships/slideLayout" Target="/ppt/slideLayouts/slideLayout1.xml" Id="R1ffa244cd5f74b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fa244cd5f74b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7c1f72f25a40f1" /><Relationship Type="http://schemas.openxmlformats.org/officeDocument/2006/relationships/image" Target="/ppt/media/image.png" Id="R487bc1bf22e54395" /><Relationship Type="http://schemas.openxmlformats.org/officeDocument/2006/relationships/image" Target="/ppt/media/image.jpeg" Id="Rcb2ee3c11be74d21" /><Relationship Type="http://schemas.openxmlformats.org/officeDocument/2006/relationships/notesSlide" Target="/ppt/notesSlides/notesSlide1.xml" Id="Rc7245e3a0c874d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676413f95248ee" /><Relationship Type="http://schemas.openxmlformats.org/officeDocument/2006/relationships/image" Target="/ppt/media/image2.jpeg" Id="R8086cc02bdbc411c" /><Relationship Type="http://schemas.openxmlformats.org/officeDocument/2006/relationships/notesSlide" Target="/ppt/notesSlides/notesSlide2.xml" Id="R01f7d3a643ff44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42cf09a5564e15" /><Relationship Type="http://schemas.openxmlformats.org/officeDocument/2006/relationships/image" Target="/ppt/media/image3.jpeg" Id="R1293ef7856e14a3d" /><Relationship Type="http://schemas.openxmlformats.org/officeDocument/2006/relationships/notesSlide" Target="/ppt/notesSlides/notesSlide3.xml" Id="R9f106f47853a41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0844f39e554df3" /><Relationship Type="http://schemas.openxmlformats.org/officeDocument/2006/relationships/image" Target="/ppt/media/image4.jpeg" Id="R7ca0e66ba4994a10" /><Relationship Type="http://schemas.openxmlformats.org/officeDocument/2006/relationships/notesSlide" Target="/ppt/notesSlides/notesSlide4.xml" Id="Ra2be54a2fa7c4c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9319741ea94bd8" /><Relationship Type="http://schemas.openxmlformats.org/officeDocument/2006/relationships/image" Target="/ppt/media/image5.jpeg" Id="R794a74955bdd4816" /><Relationship Type="http://schemas.openxmlformats.org/officeDocument/2006/relationships/notesSlide" Target="/ppt/notesSlides/notesSlide5.xml" Id="Rf48c0692c26b4d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c61ec5f2a24e9a" /><Relationship Type="http://schemas.openxmlformats.org/officeDocument/2006/relationships/image" Target="/ppt/media/image2.png" Id="Rec2ddfaac91a49b2" /><Relationship Type="http://schemas.openxmlformats.org/officeDocument/2006/relationships/notesSlide" Target="/ppt/notesSlides/notesSlide6.xml" Id="R4cb03d5cd414428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bab4657eeb43f0" /><Relationship Type="http://schemas.openxmlformats.org/officeDocument/2006/relationships/image" Target="/ppt/media/image3.png" Id="R0a4d8244e5c64454" /><Relationship Type="http://schemas.openxmlformats.org/officeDocument/2006/relationships/notesSlide" Target="/ppt/notesSlides/notesSlide7.xml" Id="Rb8433229c6bd46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2fa64561674bca" /><Relationship Type="http://schemas.openxmlformats.org/officeDocument/2006/relationships/image" Target="/ppt/media/image4.png" Id="R65ae3312a0dd4f4d" /><Relationship Type="http://schemas.openxmlformats.org/officeDocument/2006/relationships/notesSlide" Target="/ppt/notesSlides/notesSlide8.xml" Id="R7ca57be100a44a0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33b18ec67c4c6f" /><Relationship Type="http://schemas.openxmlformats.org/officeDocument/2006/relationships/image" Target="/ppt/media/image5.png" Id="Rfd92605d121d4776" /><Relationship Type="http://schemas.openxmlformats.org/officeDocument/2006/relationships/notesSlide" Target="/ppt/notesSlides/notesSlide9.xml" Id="R95d951684fd74ab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30b6e2c4a0488a" /><Relationship Type="http://schemas.openxmlformats.org/officeDocument/2006/relationships/image" Target="/ppt/media/image6.png" Id="R474bc066b8844fe1" /><Relationship Type="http://schemas.openxmlformats.org/officeDocument/2006/relationships/image" Target="/ppt/media/image7.png" Id="R489640e03eec4131" /><Relationship Type="http://schemas.openxmlformats.org/officeDocument/2006/relationships/notesSlide" Target="/ppt/notesSlides/notesSlide10.xml" Id="R54cf85f6cc56418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ff902cd5a348b4" /><Relationship Type="http://schemas.openxmlformats.org/officeDocument/2006/relationships/image" Target="/ppt/media/image6.jpeg" Id="R1314f6a84b954d28" /><Relationship Type="http://schemas.openxmlformats.org/officeDocument/2006/relationships/notesSlide" Target="/ppt/notesSlides/notesSlide11.xml" Id="Rcb0be939843446b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79fd520ca3443b" /><Relationship Type="http://schemas.openxmlformats.org/officeDocument/2006/relationships/image" Target="/ppt/media/image7.jpeg" Id="R1c1d3f8c44e8499b" /><Relationship Type="http://schemas.openxmlformats.org/officeDocument/2006/relationships/notesSlide" Target="/ppt/notesSlides/notesSlide12.xml" Id="R39bb4eecb4c24d4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2f70beb80f4aeb" /><Relationship Type="http://schemas.openxmlformats.org/officeDocument/2006/relationships/image" Target="/ppt/media/image8.png" Id="R4628c2e1def6449b" /><Relationship Type="http://schemas.openxmlformats.org/officeDocument/2006/relationships/notesSlide" Target="/ppt/notesSlides/notesSlide13.xml" Id="R2081c3958fb848b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7c47d6cd304043" /><Relationship Type="http://schemas.openxmlformats.org/officeDocument/2006/relationships/image" Target="/ppt/media/image9.png" Id="Rad20ef56b1c64104" /><Relationship Type="http://schemas.openxmlformats.org/officeDocument/2006/relationships/notesSlide" Target="/ppt/notesSlides/notesSlide14.xml" Id="R0eac9b8685e1467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1cabb00b72491b" /><Relationship Type="http://schemas.openxmlformats.org/officeDocument/2006/relationships/image" Target="/ppt/media/image10.png" Id="Rc7eb5a18af34404a" /><Relationship Type="http://schemas.openxmlformats.org/officeDocument/2006/relationships/notesSlide" Target="/ppt/notesSlides/notesSlide15.xml" Id="R4b8511b42d584c2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6a0287fcec491f" /><Relationship Type="http://schemas.openxmlformats.org/officeDocument/2006/relationships/image" Target="/ppt/media/image11.png" Id="R18697d0dbda649a2" /><Relationship Type="http://schemas.openxmlformats.org/officeDocument/2006/relationships/notesSlide" Target="/ppt/notesSlides/notesSlide16.xml" Id="R1a008bd8a72f45f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ee4fa71792497a" /><Relationship Type="http://schemas.openxmlformats.org/officeDocument/2006/relationships/notesSlide" Target="/ppt/notesSlides/notesSlide17.xml" Id="Rc5ed1864cebd43d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e315ddc3894ced" /><Relationship Type="http://schemas.openxmlformats.org/officeDocument/2006/relationships/image" Target="/ppt/media/image12.png" Id="Rc0f2970e5d3244df" /><Relationship Type="http://schemas.openxmlformats.org/officeDocument/2006/relationships/notesSlide" Target="/ppt/notesSlides/notesSlide18.xml" Id="Rf6212874530a4f7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3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166DDE-3B12-4B7C-ACA3-55BDF077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ogo-surface">
            <a:extLst xmlns:a="http://schemas.openxmlformats.org/drawingml/2006/main">
              <a:ext uri="{FF2B5EF4-FFF2-40B4-BE49-F238E27FC236}">
                <a16:creationId xmlns:a16="http://schemas.microsoft.com/office/drawing/2014/main" id="{F3DA3861-7348-4170-A37F-580D75CE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7526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7bc1bf22e54395"/>
          <a:stretch xmlns:a="http://schemas.openxmlformats.org/drawingml/2006/main"/>
        </p:blipFill>
        <p:spPr>
          <a:xfrm xmlns:a="http://schemas.openxmlformats.org/drawingml/2006/main">
            <a:off x="876300" y="400050"/>
            <a:ext cx="1219200" cy="609600"/>
          </a:xfrm>
          <a:prstGeom xmlns:a="http://schemas.openxmlformats.org/drawingml/2006/main" prst="rect">
            <a:avLst/>
          </a:prstGeom>
        </p:spPr>
      </p:pic>
      <p:sp>
        <p:nvSpPr>
          <p:cNvPr id="4" name="eyebrow-Apresentação completa">
            <a:extLst xmlns:a="http://schemas.openxmlformats.org/drawingml/2006/main">
              <a:ext uri="{FF2B5EF4-FFF2-40B4-BE49-F238E27FC236}">
                <a16:creationId xmlns:a16="http://schemas.microsoft.com/office/drawing/2014/main" id="{5034FA80-FC1B-409E-939A-F580DACA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ED4CA"/>
                </a:solidFill>
              </a:defRPr>
            </a:pPr>
            <a:r>
              <a:rPr sz="900" b="1">
                <a:solidFill>
                  <a:srgbClr val="9ED4CA"/>
                </a:solidFill>
              </a:rPr>
              <a:t>APRESENTAÇÃO COMPLETA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BC021B-BEE6-48F5-931F-762BF505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3434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Toda a igreja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em movimento.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A5F871-F14E-44CD-9A80-7FA65A47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09950"/>
            <a:ext cx="4000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DE8E2"/>
                </a:solidFill>
              </a:defRPr>
            </a:pPr>
            <a:r>
              <a:rPr sz="1650" b="0">
                <a:solidFill>
                  <a:srgbClr val="CDE8E2"/>
                </a:solidFill>
              </a:rPr>
              <a:t>Fé, comunidade, culto, serviço, cuidado e gestão — conectados em uma só experiência.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2D547F-CB33-49A4-B75C-7A0CE194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ED4CA"/>
                </a:solidFill>
              </a:defRPr>
            </a:pPr>
            <a:r>
              <a:rPr sz="1200" b="1">
                <a:solidFill>
                  <a:srgbClr val="9ED4CA"/>
                </a:solidFill>
              </a:rPr>
              <a:t>18 slides • telas reais da aplicação</a:t>
            </a:r>
          </a:p>
        </p:txBody>
      </p:sp>
      <p:sp>
        <p:nvSpPr>
          <p:cNvPr id="8" name="cover-intro-frame">
            <a:extLst xmlns:a="http://schemas.openxmlformats.org/drawingml/2006/main">
              <a:ext uri="{FF2B5EF4-FFF2-40B4-BE49-F238E27FC236}">
                <a16:creationId xmlns:a16="http://schemas.microsoft.com/office/drawing/2014/main" id="{977EB5F9-28CB-4097-B2D7-879464C8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638175"/>
            <a:ext cx="6419850" cy="529590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2A6B64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2ee3c11be74d21"/>
          <a:stretch xmlns:a="http://schemas.openxmlformats.org/drawingml/2006/main"/>
        </p:blipFill>
        <p:spPr>
          <a:xfrm xmlns:a="http://schemas.openxmlformats.org/drawingml/2006/main">
            <a:off x="5238750" y="1516811"/>
            <a:ext cx="6286500" cy="3538627"/>
          </a:xfrm>
          <a:prstGeom xmlns:a="http://schemas.openxmlformats.org/drawingml/2006/main" prst="roundRect">
            <a:avLst>
              <a:gd name="adj" fmla="val 2214"/>
            </a:avLst>
          </a:prstGeom>
        </p:spPr>
      </p:pic>
      <p:sp>
        <p:nvSpPr>
          <p:cNvPr id="10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76DC3DF5-F03B-447A-A928-971547F8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DCD5"/>
                </a:solidFill>
              </a:defRPr>
            </a:pPr>
            <a:r>
              <a:rPr sz="825" b="1">
                <a:solidFill>
                  <a:srgbClr val="B8DCD5"/>
                </a:solidFill>
              </a:rPr>
              <a:t>CULTO+  •  ECOSSISTEMA CONECTADO</a:t>
            </a:r>
          </a:p>
        </p:txBody>
      </p:sp>
      <p:sp>
        <p:nvSpPr>
          <p:cNvPr id="1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43A97D6-F497-4B79-8EB2-71AB1D45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8DCD5"/>
                </a:solidFill>
              </a:defRPr>
            </a:pPr>
            <a:r>
              <a:rPr sz="825" b="1">
                <a:solidFill>
                  <a:srgbClr val="B8DCD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184435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-Visão do produto">
            <a:extLst xmlns:a="http://schemas.openxmlformats.org/drawingml/2006/main">
              <a:ext uri="{FF2B5EF4-FFF2-40B4-BE49-F238E27FC236}">
                <a16:creationId xmlns:a16="http://schemas.microsoft.com/office/drawing/2014/main" id="{50FF380E-A535-4619-A16B-59A23CCA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A6B"/>
                </a:solidFill>
              </a:defRPr>
            </a:pPr>
            <a:r>
              <a:rPr sz="900" b="1">
                <a:solidFill>
                  <a:srgbClr val="087A6B"/>
                </a:solidFill>
              </a:rPr>
              <a:t>VISÃO DO PRODUTO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6F8E796-A44E-4F74-B1A0-84C4A09A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530"/>
                </a:solidFill>
              </a:defRPr>
            </a:pPr>
            <a:r>
              <a:rPr sz="3000" b="1">
                <a:solidFill>
                  <a:srgbClr val="0B1530"/>
                </a:solidFill>
              </a:rPr>
              <a:t>O Culto+ conecta toda a vida da igreja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889982-A6C0-481D-A846-4D6D70FA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9065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878"/>
                </a:solidFill>
              </a:defRPr>
            </a:pPr>
            <a:r>
              <a:rPr sz="1500" b="0">
                <a:solidFill>
                  <a:srgbClr val="5E6878"/>
                </a:solidFill>
              </a:rPr>
              <a:t>O valor está na continuidade entre módulos — não na quantidade de telas.</a:t>
            </a:r>
          </a:p>
        </p:txBody>
      </p:sp>
      <p:sp>
        <p:nvSpPr>
          <p:cNvPr id="4" name="ecosystem-frame">
            <a:extLst xmlns:a="http://schemas.openxmlformats.org/drawingml/2006/main">
              <a:ext uri="{FF2B5EF4-FFF2-40B4-BE49-F238E27FC236}">
                <a16:creationId xmlns:a16="http://schemas.microsoft.com/office/drawing/2014/main" id="{C215CDF8-3697-42FB-A9A4-A8CC6ED0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876425"/>
            <a:ext cx="11106150" cy="430530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4DC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86cc02bdbc411c"/>
          <a:srcRect xmlns:a="http://schemas.openxmlformats.org/drawingml/2006/main" l="0" t="16227" r="0" b="162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943100"/>
            <a:ext cx="10972800" cy="4171950"/>
          </a:xfrm>
          <a:prstGeom xmlns:a="http://schemas.openxmlformats.org/drawingml/2006/main" prst="roundRect">
            <a:avLst>
              <a:gd name="adj" fmla="val 2740"/>
            </a:avLst>
          </a:prstGeom>
        </p:spPr>
      </p:pic>
      <p:sp>
        <p:nvSpPr>
          <p:cNvPr id="6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E797EE87-E415-43D9-8C07-699109DA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4A0B2"/>
                </a:solidFill>
              </a:defRPr>
            </a:pPr>
            <a:r>
              <a:rPr sz="825" b="1">
                <a:solidFill>
                  <a:srgbClr val="94A0B2"/>
                </a:solidFill>
              </a:rPr>
              <a:t>CULTO+  •  ECOSSISTEMA CONECTADO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B1B54F6-6995-4BC3-A03D-6A0AC0E7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0B2"/>
                </a:solidFill>
              </a:defRPr>
            </a:pPr>
            <a:r>
              <a:rPr sz="825" b="1">
                <a:solidFill>
                  <a:srgbClr val="94A0B2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995954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-Jornada contínua">
            <a:extLst xmlns:a="http://schemas.openxmlformats.org/drawingml/2006/main">
              <a:ext uri="{FF2B5EF4-FFF2-40B4-BE49-F238E27FC236}">
                <a16:creationId xmlns:a16="http://schemas.microsoft.com/office/drawing/2014/main" id="{3C7B2BE9-A9C0-4BF6-9E5D-7D2F4C54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A6B"/>
                </a:solidFill>
              </a:defRPr>
            </a:pPr>
            <a:r>
              <a:rPr sz="900" b="1">
                <a:solidFill>
                  <a:srgbClr val="087A6B"/>
                </a:solidFill>
              </a:rPr>
              <a:t>JORNADA CONTÍNUA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B34B045-D990-41D4-9ACE-08F0A232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530"/>
                </a:solidFill>
              </a:defRPr>
            </a:pPr>
            <a:r>
              <a:rPr sz="2925" b="1">
                <a:solidFill>
                  <a:srgbClr val="0B1530"/>
                </a:solidFill>
              </a:rPr>
              <a:t>Cada etapa prepara a próxima — sem perder contexto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720F3F-D835-455F-854C-93EF458B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90650"/>
            <a:ext cx="971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878"/>
                </a:solidFill>
              </a:defRPr>
            </a:pPr>
            <a:r>
              <a:rPr sz="1500" b="0">
                <a:solidFill>
                  <a:srgbClr val="5E6878"/>
                </a:solidFill>
              </a:rPr>
              <a:t>Ler, crescer, participar, servir, cuidar e gerir formam uma sequência reconhecível.</a:t>
            </a:r>
          </a:p>
        </p:txBody>
      </p:sp>
      <p:sp>
        <p:nvSpPr>
          <p:cNvPr id="4" name="journey-frame">
            <a:extLst xmlns:a="http://schemas.openxmlformats.org/drawingml/2006/main">
              <a:ext uri="{FF2B5EF4-FFF2-40B4-BE49-F238E27FC236}">
                <a16:creationId xmlns:a16="http://schemas.microsoft.com/office/drawing/2014/main" id="{8E3715D2-12FB-4805-B452-19F037D2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933575"/>
            <a:ext cx="11106150" cy="41148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4DC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93ef7856e14a3d"/>
          <a:srcRect xmlns:a="http://schemas.openxmlformats.org/drawingml/2006/main" l="0" t="17769" r="0" b="177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000250"/>
            <a:ext cx="10972800" cy="3981450"/>
          </a:xfrm>
          <a:prstGeom xmlns:a="http://schemas.openxmlformats.org/drawingml/2006/main" prst="roundRect">
            <a:avLst>
              <a:gd name="adj" fmla="val 2871"/>
            </a:avLst>
          </a:prstGeom>
        </p:spPr>
      </p:pic>
      <p:sp>
        <p:nvSpPr>
          <p:cNvPr id="6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304CACB5-A576-4CF4-BB82-FD697016B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4A0B2"/>
                </a:solidFill>
              </a:defRPr>
            </a:pPr>
            <a:r>
              <a:rPr sz="825" b="1">
                <a:solidFill>
                  <a:srgbClr val="94A0B2"/>
                </a:solidFill>
              </a:rPr>
              <a:t>CULTO+  •  ECOSSISTEMA CONECTADO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3BBFE73-9BF3-46FC-B021-17B00F21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0B2"/>
                </a:solidFill>
              </a:defRPr>
            </a:pPr>
            <a:r>
              <a:rPr sz="825" b="1">
                <a:solidFill>
                  <a:srgbClr val="94A0B2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33627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-Papéis acumulativos">
            <a:extLst xmlns:a="http://schemas.openxmlformats.org/drawingml/2006/main">
              <a:ext uri="{FF2B5EF4-FFF2-40B4-BE49-F238E27FC236}">
                <a16:creationId xmlns:a16="http://schemas.microsoft.com/office/drawing/2014/main" id="{E4917BA5-A168-4011-9AC6-281DEFD2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A6B"/>
                </a:solidFill>
              </a:defRPr>
            </a:pPr>
            <a:r>
              <a:rPr sz="900" b="1">
                <a:solidFill>
                  <a:srgbClr val="087A6B"/>
                </a:solidFill>
              </a:rPr>
              <a:t>PAPÉIS ACUMULATIVOS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3F37A45-3557-471C-AFC3-00591878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530"/>
                </a:solidFill>
              </a:defRPr>
            </a:pPr>
            <a:r>
              <a:rPr sz="2925" b="1">
                <a:solidFill>
                  <a:srgbClr val="0B1530"/>
                </a:solidFill>
              </a:rPr>
              <a:t>Uma conta cresce com a responsabilidade da pessoa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46DFD9-63E8-4160-91A7-1B5F8D27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906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878"/>
                </a:solidFill>
              </a:defRPr>
            </a:pPr>
            <a:r>
              <a:rPr sz="1500" b="0">
                <a:solidFill>
                  <a:srgbClr val="5E6878"/>
                </a:solidFill>
              </a:rPr>
              <a:t>A vida pessoal permanece; novas ferramentas aparecem conforme o papel de membro, líder ou gestor.</a:t>
            </a:r>
          </a:p>
        </p:txBody>
      </p:sp>
      <p:sp>
        <p:nvSpPr>
          <p:cNvPr id="4" name="roles-frame">
            <a:extLst xmlns:a="http://schemas.openxmlformats.org/drawingml/2006/main">
              <a:ext uri="{FF2B5EF4-FFF2-40B4-BE49-F238E27FC236}">
                <a16:creationId xmlns:a16="http://schemas.microsoft.com/office/drawing/2014/main" id="{2CA0E548-441F-40EF-939A-51E6B7FB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895475"/>
            <a:ext cx="11106150" cy="430530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4DC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a0e66ba4994a10"/>
          <a:srcRect xmlns:a="http://schemas.openxmlformats.org/drawingml/2006/main" l="0" t="16227" r="0" b="162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962150"/>
            <a:ext cx="10972800" cy="4171950"/>
          </a:xfrm>
          <a:prstGeom xmlns:a="http://schemas.openxmlformats.org/drawingml/2006/main" prst="roundRect">
            <a:avLst>
              <a:gd name="adj" fmla="val 2740"/>
            </a:avLst>
          </a:prstGeom>
        </p:spPr>
      </p:pic>
      <p:sp>
        <p:nvSpPr>
          <p:cNvPr id="6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6E33AEC4-5CC1-459C-B9BA-2C4EC442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4A0B2"/>
                </a:solidFill>
              </a:defRPr>
            </a:pPr>
            <a:r>
              <a:rPr sz="825" b="1">
                <a:solidFill>
                  <a:srgbClr val="94A0B2"/>
                </a:solidFill>
              </a:rPr>
              <a:t>CULTO+  •  ECOSSISTEMA CONECTADO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4370A67-0D3D-4EE8-9743-1DA27317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0B2"/>
                </a:solidFill>
              </a:defRPr>
            </a:pPr>
            <a:r>
              <a:rPr sz="825" b="1">
                <a:solidFill>
                  <a:srgbClr val="94A0B2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080010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-Minha visão">
            <a:extLst xmlns:a="http://schemas.openxmlformats.org/drawingml/2006/main">
              <a:ext uri="{FF2B5EF4-FFF2-40B4-BE49-F238E27FC236}">
                <a16:creationId xmlns:a16="http://schemas.microsoft.com/office/drawing/2014/main" id="{64D3B80D-B688-4188-BDEA-1B58A03E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A6B"/>
                </a:solidFill>
              </a:defRPr>
            </a:pPr>
            <a:r>
              <a:rPr sz="900" b="1">
                <a:solidFill>
                  <a:srgbClr val="087A6B"/>
                </a:solidFill>
              </a:rPr>
              <a:t>MINHA VISÃO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68BBEA-61E9-4604-B328-D80E8708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530"/>
                </a:solidFill>
              </a:defRPr>
            </a:pPr>
            <a:r>
              <a:rPr sz="2850" b="1">
                <a:solidFill>
                  <a:srgbClr val="0B1530"/>
                </a:solidFill>
              </a:rPr>
              <a:t>A jornada pessoal reúne fé, agenda e pertencimento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83DD03-29C2-444E-920E-D6B1A469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9065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878"/>
                </a:solidFill>
              </a:defRPr>
            </a:pPr>
            <a:r>
              <a:rPr sz="1500" b="0">
                <a:solidFill>
                  <a:srgbClr val="5E6878"/>
                </a:solidFill>
              </a:rPr>
              <a:t>A pessoa começa pelo que precisa hoje — e encontra o caminho para participar da igreja.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F629E1-54BF-45F7-BEE9-27A0AF77E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530"/>
                </a:solidFill>
              </a:defRPr>
            </a:pPr>
            <a:r>
              <a:rPr sz="1500" b="1">
                <a:solidFill>
                  <a:srgbClr val="0B1530"/>
                </a:solidFill>
              </a:rPr>
              <a:t>Um início que combina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62AC43-A0DF-4487-9B58-12EDCC81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1AB8E1-172D-42D7-9634-A977AC60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524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D6DB50-17AF-40C6-92ED-5479C602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8"/>
                </a:solidFill>
              </a:defRPr>
            </a:pPr>
            <a:r>
              <a:rPr sz="1275" b="0">
                <a:solidFill>
                  <a:srgbClr val="5E6878"/>
                </a:solidFill>
              </a:rPr>
              <a:t>continuidade da leitura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DF1EEA-F1DB-4B4A-8867-BCD21FFB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BE48ED-45DA-495C-ADB4-AF873C3D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1524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2D7C91-04BF-4F84-B3B5-F668254E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8"/>
                </a:solidFill>
              </a:defRPr>
            </a:pPr>
            <a:r>
              <a:rPr sz="1275" b="0">
                <a:solidFill>
                  <a:srgbClr val="5E6878"/>
                </a:solidFill>
              </a:rPr>
              <a:t>próximo culto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17C2D8-C0F5-4CB4-ADC5-B655D744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9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C66ED3-849A-4331-A1D2-547B6C15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1524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10DADE-22BF-44E8-9ACC-431550AB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8"/>
                </a:solidFill>
              </a:defRPr>
            </a:pPr>
            <a:r>
              <a:rPr sz="1275" b="0">
                <a:solidFill>
                  <a:srgbClr val="5E6878"/>
                </a:solidFill>
              </a:rPr>
              <a:t>agenda e escalas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C16C59-8829-43DE-AE90-04F58B0B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2D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1811FE-2F94-43C6-9FB9-16A97198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1524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4A2203-DBCA-4EFD-AD5C-E52C4A28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8"/>
                </a:solidFill>
              </a:defRPr>
            </a:pPr>
            <a:r>
              <a:rPr sz="1275" b="0">
                <a:solidFill>
                  <a:srgbClr val="5E6878"/>
                </a:solidFill>
              </a:rPr>
              <a:t>vida em comunidade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414BCB-702E-49A9-8468-86CD9CE0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2571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0FBF7"/>
          </a:solidFill>
          <a:ln xmlns:a="http://schemas.openxmlformats.org/drawingml/2006/main" w="9525">
            <a:solidFill>
              <a:srgbClr val="CDEB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203298-07D8-4E9F-8C21-AD5F00C7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816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5E52"/>
                </a:solidFill>
              </a:defRPr>
            </a:pPr>
            <a:r>
              <a:rPr sz="1350" b="1">
                <a:solidFill>
                  <a:srgbClr val="075E52"/>
                </a:solidFill>
              </a:rPr>
              <a:t>A experiência pessoal não desaparece quando a pessoa passa a servir.</a:t>
            </a:r>
          </a:p>
        </p:txBody>
      </p:sp>
      <p:sp>
        <p:nvSpPr>
          <p:cNvPr id="19" name="newhome-frame">
            <a:extLst xmlns:a="http://schemas.openxmlformats.org/drawingml/2006/main">
              <a:ext uri="{FF2B5EF4-FFF2-40B4-BE49-F238E27FC236}">
                <a16:creationId xmlns:a16="http://schemas.microsoft.com/office/drawing/2014/main" id="{B4D137F5-37D1-435D-930F-10D605BA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1781175"/>
            <a:ext cx="8134350" cy="4629150"/>
          </a:xfrm>
          <a:prstGeom xmlns:a="http://schemas.openxmlformats.org/drawingml/2006/main" prst="roundRect">
            <a:avLst>
              <a:gd name="adj" fmla="val 32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4DC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4a74955bdd4816"/>
          <a:srcRect xmlns:a="http://schemas.openxmlformats.org/drawingml/2006/main" l="0" t="53" r="0" b="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24250" y="1847850"/>
            <a:ext cx="8001000" cy="4495800"/>
          </a:xfrm>
          <a:prstGeom xmlns:a="http://schemas.openxmlformats.org/drawingml/2006/main" prst="roundRect">
            <a:avLst>
              <a:gd name="adj" fmla="val 2542"/>
            </a:avLst>
          </a:prstGeom>
        </p:spPr>
      </p:pic>
      <p:sp>
        <p:nvSpPr>
          <p:cNvPr id="21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A32F3E5C-A267-4F26-A9C3-7F3576ED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4A0B2"/>
                </a:solidFill>
              </a:defRPr>
            </a:pPr>
            <a:r>
              <a:rPr sz="825" b="1">
                <a:solidFill>
                  <a:srgbClr val="94A0B2"/>
                </a:solidFill>
              </a:rPr>
              <a:t>CULTO+  •  ECOSSISTEMA CONECTADO</a:t>
            </a:r>
          </a:p>
        </p:txBody>
      </p:sp>
      <p:sp>
        <p:nvSpPr>
          <p:cNvPr id="22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7087DEF-6F40-4669-B37E-28AEE6AC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0B2"/>
                </a:solidFill>
              </a:defRPr>
            </a:pPr>
            <a:r>
              <a:rPr sz="825" b="1">
                <a:solidFill>
                  <a:srgbClr val="94A0B2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261727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3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-Bíblia e formação">
            <a:extLst xmlns:a="http://schemas.openxmlformats.org/drawingml/2006/main">
              <a:ext uri="{FF2B5EF4-FFF2-40B4-BE49-F238E27FC236}">
                <a16:creationId xmlns:a16="http://schemas.microsoft.com/office/drawing/2014/main" id="{7BB68D80-BEF1-4725-89A6-88810AC4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ED4CA"/>
                </a:solidFill>
              </a:defRPr>
            </a:pPr>
            <a:r>
              <a:rPr sz="900" b="1">
                <a:solidFill>
                  <a:srgbClr val="9ED4CA"/>
                </a:solidFill>
              </a:rPr>
              <a:t>BÍBLIA E FORMAÇÃO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E3E643A-5DE2-4AD4-8037-E285339E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A Palavra continua sendo o ponto de partida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4E03DA-7BBC-43D6-BC0E-6A7A99F4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906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DE8E2"/>
                </a:solidFill>
              </a:defRPr>
            </a:pPr>
            <a:r>
              <a:rPr sz="1500" b="0">
                <a:solidFill>
                  <a:srgbClr val="CDE8E2"/>
                </a:solidFill>
              </a:rPr>
              <a:t>Bíblia, leitura e conteúdo formam a base da jornada antes de qualquer operação.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644C31-64BD-4650-AFDA-2693E7D3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O que a tela demonstra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34FCDB-D88B-4C6F-AA4E-805B68C0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401F69-945C-497A-BDEB-CCEB85B3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524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CCBF9A-5505-420B-8DFC-597C6E02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6F3"/>
                </a:solidFill>
              </a:defRPr>
            </a:pPr>
            <a:r>
              <a:rPr sz="1275" b="0">
                <a:solidFill>
                  <a:srgbClr val="EAF6F3"/>
                </a:solidFill>
              </a:rPr>
              <a:t>biblioteca navegável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10EB06-0454-4ED7-AA01-6B9A77D4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9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9E7A42-9065-4395-8938-A9EE179B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524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8F1443-B5AF-477C-9391-E76E83F3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6F3"/>
                </a:solidFill>
              </a:defRPr>
            </a:pPr>
            <a:r>
              <a:rPr sz="1275" b="0">
                <a:solidFill>
                  <a:srgbClr val="EAF6F3"/>
                </a:solidFill>
              </a:rPr>
              <a:t>busca por livro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21EE08-F75C-4964-B44F-7F3D17F1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2D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6722E4-7A62-42AC-8146-28486C40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1524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BF477F-5E37-4C79-9B81-F105D7E6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6F3"/>
                </a:solidFill>
              </a:defRPr>
            </a:pPr>
            <a:r>
              <a:rPr sz="1275" b="0">
                <a:solidFill>
                  <a:srgbClr val="EAF6F3"/>
                </a:solidFill>
              </a:rPr>
              <a:t>continuidade de estudo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617FD1-23DC-42EE-9310-CE93F913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247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DCD5"/>
                </a:solidFill>
              </a:defRPr>
            </a:pPr>
            <a:r>
              <a:rPr sz="1275" b="0">
                <a:solidFill>
                  <a:srgbClr val="B8DCD5"/>
                </a:solidFill>
              </a:rPr>
              <a:t>A identidade está sendo unificada; a capacidade bíblica já faz parte do ecossistema Culto+.</a:t>
            </a:r>
          </a:p>
        </p:txBody>
      </p:sp>
      <p:sp>
        <p:nvSpPr>
          <p:cNvPr id="15" name="bible-frame">
            <a:extLst xmlns:a="http://schemas.openxmlformats.org/drawingml/2006/main">
              <a:ext uri="{FF2B5EF4-FFF2-40B4-BE49-F238E27FC236}">
                <a16:creationId xmlns:a16="http://schemas.microsoft.com/office/drawing/2014/main" id="{E6E6259C-DA2C-467C-AD99-AD8E2869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838325"/>
            <a:ext cx="8382000" cy="4457700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101514"/>
          </a:solidFill>
          <a:ln xmlns:a="http://schemas.openxmlformats.org/drawingml/2006/main" w="9525">
            <a:solidFill>
              <a:srgbClr val="2A6B64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2ddfaac91a49b2"/>
          <a:stretch xmlns:a="http://schemas.openxmlformats.org/drawingml/2006/main"/>
        </p:blipFill>
        <p:spPr>
          <a:xfrm xmlns:a="http://schemas.openxmlformats.org/drawingml/2006/main">
            <a:off x="4217723" y="1905000"/>
            <a:ext cx="6366404" cy="4324350"/>
          </a:xfrm>
          <a:prstGeom xmlns:a="http://schemas.openxmlformats.org/drawingml/2006/main" prst="roundRect">
            <a:avLst>
              <a:gd name="adj" fmla="val 2643"/>
            </a:avLst>
          </a:prstGeom>
        </p:spPr>
      </p:pic>
      <p:sp>
        <p:nvSpPr>
          <p:cNvPr id="17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6CECF488-1F98-46A5-9175-8D7F74A4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DCD5"/>
                </a:solidFill>
              </a:defRPr>
            </a:pPr>
            <a:r>
              <a:rPr sz="825" b="1">
                <a:solidFill>
                  <a:srgbClr val="B8DCD5"/>
                </a:solidFill>
              </a:rPr>
              <a:t>CULTO+  •  ECOSSISTEMA CONECTADO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E0ADF4D-3530-4E78-B0D7-2CC0C9989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8DCD5"/>
                </a:solidFill>
              </a:defRPr>
            </a:pPr>
            <a:r>
              <a:rPr sz="825" b="1">
                <a:solidFill>
                  <a:srgbClr val="B8DCD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275602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-Gestão da Igreja">
            <a:extLst xmlns:a="http://schemas.openxmlformats.org/drawingml/2006/main">
              <a:ext uri="{FF2B5EF4-FFF2-40B4-BE49-F238E27FC236}">
                <a16:creationId xmlns:a16="http://schemas.microsoft.com/office/drawing/2014/main" id="{FF62887F-7AE6-4A80-B85D-54A058A5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A6B"/>
                </a:solidFill>
              </a:defRPr>
            </a:pPr>
            <a:r>
              <a:rPr sz="900" b="1">
                <a:solidFill>
                  <a:srgbClr val="087A6B"/>
                </a:solidFill>
              </a:rPr>
              <a:t>GESTÃO DA IGREJA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A215547-702A-4577-AAA3-61CA3A78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530"/>
                </a:solidFill>
              </a:defRPr>
            </a:pPr>
            <a:r>
              <a:rPr sz="2775" b="1">
                <a:solidFill>
                  <a:srgbClr val="0B1530"/>
                </a:solidFill>
              </a:rPr>
              <a:t>A gestão de cultos transforma o calendário em plano de 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F3E975-DDA5-4F2C-8402-942C5D41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9065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878"/>
                </a:solidFill>
              </a:defRPr>
            </a:pPr>
            <a:r>
              <a:rPr sz="1500" b="0">
                <a:solidFill>
                  <a:srgbClr val="5E6878"/>
                </a:solidFill>
              </a:rPr>
              <a:t>Indicadores, filtros, alertas e ações convivem na mesma visão operacional.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72B962-FB00-465E-9A92-BF81C128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530"/>
                </a:solidFill>
              </a:defRPr>
            </a:pPr>
            <a:r>
              <a:rPr sz="1575" b="1">
                <a:solidFill>
                  <a:srgbClr val="0B1530"/>
                </a:solidFill>
              </a:rPr>
              <a:t>A leitura prioritária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EAC18A-791A-43A3-8354-D37A534C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3C128C-B90F-45D3-9109-7D45BD9D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524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91D5F1-B463-4BFD-88A8-FCA01140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335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8"/>
                </a:solidFill>
              </a:defRPr>
            </a:pPr>
            <a:r>
              <a:rPr sz="1275" b="0">
                <a:solidFill>
                  <a:srgbClr val="5E6878"/>
                </a:solidFill>
              </a:rPr>
              <a:t>o que existe no período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61DA57-119F-450E-BF92-54B7E79E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9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34637A-B334-41C9-9A60-1318DEAE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1524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0DF961-F90A-4CB5-8117-0DA4F41B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335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8"/>
                </a:solidFill>
              </a:defRPr>
            </a:pPr>
            <a:r>
              <a:rPr sz="1275" b="0">
                <a:solidFill>
                  <a:srgbClr val="5E6878"/>
                </a:solidFill>
              </a:rPr>
              <a:t>o que está pendente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29EC77-6895-4A88-9E88-8733DFC9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2D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703113-03CD-4B03-A87D-A3ED5B3A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524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F3DE6A-757B-48B0-81FE-F7003106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335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8"/>
                </a:solidFill>
              </a:defRPr>
            </a:pPr>
            <a:r>
              <a:rPr sz="1275" b="0">
                <a:solidFill>
                  <a:srgbClr val="5E6878"/>
                </a:solidFill>
              </a:rPr>
              <a:t>qual culto precisa de ação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3119E2-CCA4-47A5-AAEF-7137C48E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1498FB-4C3E-4CEA-80AE-CB7BCBCB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524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08F239-1563-4368-82E0-6F7FFB64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335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8"/>
                </a:solidFill>
              </a:defRPr>
            </a:pPr>
            <a:r>
              <a:rPr sz="1275" b="0">
                <a:solidFill>
                  <a:srgbClr val="5E6878"/>
                </a:solidFill>
              </a:rPr>
              <a:t>quem está confirmado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76DDBA-F1B1-4AB8-9717-A4C08352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36385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0FBF7"/>
          </a:solidFill>
          <a:ln xmlns:a="http://schemas.openxmlformats.org/drawingml/2006/main" w="9525">
            <a:solidFill>
              <a:srgbClr val="CDEB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F0E5B8-7EDF-47AA-9751-E5D450DF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62550"/>
            <a:ext cx="318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5E52"/>
                </a:solidFill>
              </a:defRPr>
            </a:pPr>
            <a:r>
              <a:rPr sz="1350" b="1">
                <a:solidFill>
                  <a:srgbClr val="075E52"/>
                </a:solidFill>
              </a:rPr>
              <a:t>O gestor sai do diagnóstico direto para a correção.</a:t>
            </a:r>
          </a:p>
        </p:txBody>
      </p:sp>
      <p:sp>
        <p:nvSpPr>
          <p:cNvPr id="19" name="cult-management-frame">
            <a:extLst xmlns:a="http://schemas.openxmlformats.org/drawingml/2006/main">
              <a:ext uri="{FF2B5EF4-FFF2-40B4-BE49-F238E27FC236}">
                <a16:creationId xmlns:a16="http://schemas.microsoft.com/office/drawing/2014/main" id="{26873459-1C41-4093-B26E-FDF43EF1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1724025"/>
            <a:ext cx="7010400" cy="468630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4DC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4d8244e5c64454"/>
          <a:stretch xmlns:a="http://schemas.openxmlformats.org/drawingml/2006/main"/>
        </p:blipFill>
        <p:spPr>
          <a:xfrm xmlns:a="http://schemas.openxmlformats.org/drawingml/2006/main">
            <a:off x="4798211" y="1790700"/>
            <a:ext cx="6577028" cy="4552950"/>
          </a:xfrm>
          <a:prstGeom xmlns:a="http://schemas.openxmlformats.org/drawingml/2006/main" prst="roundRect">
            <a:avLst>
              <a:gd name="adj" fmla="val 2510"/>
            </a:avLst>
          </a:prstGeom>
        </p:spPr>
      </p:pic>
      <p:sp>
        <p:nvSpPr>
          <p:cNvPr id="21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880C40EE-A4F9-4926-8AD1-72C75449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4A0B2"/>
                </a:solidFill>
              </a:defRPr>
            </a:pPr>
            <a:r>
              <a:rPr sz="825" b="1">
                <a:solidFill>
                  <a:srgbClr val="94A0B2"/>
                </a:solidFill>
              </a:rPr>
              <a:t>CULTO+  •  ECOSSISTEMA CONECTADO</a:t>
            </a:r>
          </a:p>
        </p:txBody>
      </p:sp>
      <p:sp>
        <p:nvSpPr>
          <p:cNvPr id="22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A4095C4-55FF-4C30-B6B1-FD8610B0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0B2"/>
                </a:solidFill>
              </a:defRPr>
            </a:pPr>
            <a:r>
              <a:rPr sz="825" b="1">
                <a:solidFill>
                  <a:srgbClr val="94A0B2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927894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-Status e decisão">
            <a:extLst xmlns:a="http://schemas.openxmlformats.org/drawingml/2006/main">
              <a:ext uri="{FF2B5EF4-FFF2-40B4-BE49-F238E27FC236}">
                <a16:creationId xmlns:a16="http://schemas.microsoft.com/office/drawing/2014/main" id="{CE0177B8-464D-4667-AD8F-4A198A03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A6B"/>
                </a:solidFill>
              </a:defRPr>
            </a:pPr>
            <a:r>
              <a:rPr sz="900" b="1">
                <a:solidFill>
                  <a:srgbClr val="087A6B"/>
                </a:solidFill>
              </a:rPr>
              <a:t>STATUS E DECISÃO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1CAF53C-1CE3-4464-B5F7-2AC06F6C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530"/>
                </a:solidFill>
              </a:defRPr>
            </a:pPr>
            <a:r>
              <a:rPr sz="2700" b="1">
                <a:solidFill>
                  <a:srgbClr val="0B1530"/>
                </a:solidFill>
              </a:rPr>
              <a:t>A lista mostra o que falta — e o Inbox traz a decisão para perto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9335BA-6D44-4371-B341-940B3851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906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878"/>
                </a:solidFill>
              </a:defRPr>
            </a:pPr>
            <a:r>
              <a:rPr sz="1500" b="0">
                <a:solidFill>
                  <a:srgbClr val="5E6878"/>
                </a:solidFill>
              </a:rPr>
              <a:t>Sem equipe, aguardando voluntários ou esperando aprovação: o estado precisa indicar a próxima ação.</a:t>
            </a:r>
          </a:p>
        </p:txBody>
      </p:sp>
      <p:sp>
        <p:nvSpPr>
          <p:cNvPr id="4" name="cult-inbox-frame">
            <a:extLst xmlns:a="http://schemas.openxmlformats.org/drawingml/2006/main">
              <a:ext uri="{FF2B5EF4-FFF2-40B4-BE49-F238E27FC236}">
                <a16:creationId xmlns:a16="http://schemas.microsoft.com/office/drawing/2014/main" id="{CDEFE7FA-F117-42D7-9574-563A8E7E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914525"/>
            <a:ext cx="11106150" cy="430530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4DC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ae3312a0dd4f4d"/>
          <a:srcRect xmlns:a="http://schemas.openxmlformats.org/drawingml/2006/main" l="0" t="14279" r="0" b="142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981200"/>
            <a:ext cx="10972800" cy="4171950"/>
          </a:xfrm>
          <a:prstGeom xmlns:a="http://schemas.openxmlformats.org/drawingml/2006/main" prst="roundRect">
            <a:avLst>
              <a:gd name="adj" fmla="val 2740"/>
            </a:avLst>
          </a:prstGeom>
        </p:spPr>
      </p:pic>
      <p:sp>
        <p:nvSpPr>
          <p:cNvPr id="6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F4CFC6C7-3418-499F-BE45-611E5237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4A0B2"/>
                </a:solidFill>
              </a:defRPr>
            </a:pPr>
            <a:r>
              <a:rPr sz="825" b="1">
                <a:solidFill>
                  <a:srgbClr val="94A0B2"/>
                </a:solidFill>
              </a:rPr>
              <a:t>CULTO+  •  ECOSSISTEMA CONECTADO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25D504B-E83F-42CB-A812-7F2B4A32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0B2"/>
                </a:solidFill>
              </a:defRPr>
            </a:pPr>
            <a:r>
              <a:rPr sz="825" b="1">
                <a:solidFill>
                  <a:srgbClr val="94A0B2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68432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-Detalhes do culto">
            <a:extLst xmlns:a="http://schemas.openxmlformats.org/drawingml/2006/main">
              <a:ext uri="{FF2B5EF4-FFF2-40B4-BE49-F238E27FC236}">
                <a16:creationId xmlns:a16="http://schemas.microsoft.com/office/drawing/2014/main" id="{D718369D-80AA-443F-968E-1036C048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A6B"/>
                </a:solidFill>
              </a:defRPr>
            </a:pPr>
            <a:r>
              <a:rPr sz="900" b="1">
                <a:solidFill>
                  <a:srgbClr val="087A6B"/>
                </a:solidFill>
              </a:rPr>
              <a:t>DETALHES DO CULTO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F881FD4-D72A-4EB4-9B91-2AA47589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530"/>
                </a:solidFill>
              </a:defRPr>
            </a:pPr>
            <a:r>
              <a:rPr sz="2775" b="1">
                <a:solidFill>
                  <a:srgbClr val="0B1530"/>
                </a:solidFill>
              </a:rPr>
              <a:t>O detalhe vira um centro de resolução — sem quebrar o fluxo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879CDD-005C-43ED-A1ED-3E816F73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906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878"/>
                </a:solidFill>
              </a:defRPr>
            </a:pPr>
            <a:r>
              <a:rPr sz="1500" b="0">
                <a:solidFill>
                  <a:srgbClr val="5E6878"/>
                </a:solidFill>
              </a:rPr>
              <a:t>Equipes, voluntários, QR Code, convites e pendências aparecem em contexto, dentro de um popup.</a:t>
            </a:r>
          </a:p>
        </p:txBody>
      </p:sp>
      <p:sp>
        <p:nvSpPr>
          <p:cNvPr id="4" name="cult-details-frame">
            <a:extLst xmlns:a="http://schemas.openxmlformats.org/drawingml/2006/main">
              <a:ext uri="{FF2B5EF4-FFF2-40B4-BE49-F238E27FC236}">
                <a16:creationId xmlns:a16="http://schemas.microsoft.com/office/drawing/2014/main" id="{93579628-24E7-4140-9FEA-78EF33A8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857375"/>
            <a:ext cx="11106150" cy="4400550"/>
          </a:xfrm>
          <a:prstGeom xmlns:a="http://schemas.openxmlformats.org/drawingml/2006/main" prst="roundRect">
            <a:avLst>
              <a:gd name="adj" fmla="val 34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4DC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92605d121d4776"/>
          <a:srcRect xmlns:a="http://schemas.openxmlformats.org/drawingml/2006/main" l="0" t="5501" r="0" b="55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924050"/>
            <a:ext cx="10972800" cy="4267200"/>
          </a:xfrm>
          <a:prstGeom xmlns:a="http://schemas.openxmlformats.org/drawingml/2006/main" prst="roundRect">
            <a:avLst>
              <a:gd name="adj" fmla="val 2679"/>
            </a:avLst>
          </a:prstGeom>
        </p:spPr>
      </p:pic>
      <p:sp>
        <p:nvSpPr>
          <p:cNvPr id="6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B83C2758-B675-4FF4-AC8F-BD86F655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4A0B2"/>
                </a:solidFill>
              </a:defRPr>
            </a:pPr>
            <a:r>
              <a:rPr sz="825" b="1">
                <a:solidFill>
                  <a:srgbClr val="94A0B2"/>
                </a:solidFill>
              </a:rPr>
              <a:t>CULTO+  •  ECOSSISTEMA CONECTADO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B68C0E0-E214-429F-B3CB-1F9971B7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0B2"/>
                </a:solidFill>
              </a:defRPr>
            </a:pPr>
            <a:r>
              <a:rPr sz="825" b="1">
                <a:solidFill>
                  <a:srgbClr val="94A0B2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853011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eyebrow-Pessoas e equipes">
            <a:extLst xmlns:a="http://schemas.openxmlformats.org/drawingml/2006/main">
              <a:ext uri="{FF2B5EF4-FFF2-40B4-BE49-F238E27FC236}">
                <a16:creationId xmlns:a16="http://schemas.microsoft.com/office/drawing/2014/main" id="{615C2188-2D15-48EA-818E-74B33FEA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A6B"/>
                </a:solidFill>
              </a:defRPr>
            </a:pPr>
            <a:r>
              <a:rPr sz="900" b="1">
                <a:solidFill>
                  <a:srgbClr val="087A6B"/>
                </a:solidFill>
              </a:rPr>
              <a:t>PESSOAS E EQUIPES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0B21E3B-12AB-443E-A07A-086D04AA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530"/>
                </a:solidFill>
              </a:defRPr>
            </a:pPr>
            <a:r>
              <a:rPr sz="2850" b="1">
                <a:solidFill>
                  <a:srgbClr val="0B1530"/>
                </a:solidFill>
              </a:rPr>
              <a:t>Pessoas, equipes e escalas compartilham a mesma visão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D38112-B2B9-41C0-8317-A5AAC832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906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878"/>
                </a:solidFill>
              </a:defRPr>
            </a:pPr>
            <a:r>
              <a:rPr sz="1500" b="0">
                <a:solidFill>
                  <a:srgbClr val="5E6878"/>
                </a:solidFill>
              </a:rPr>
              <a:t>O gestor encontra vínculo, time, próxima escala e situação sem navegar por módulos desconectados.</a:t>
            </a:r>
          </a:p>
        </p:txBody>
      </p:sp>
      <p:sp>
        <p:nvSpPr>
          <p:cNvPr id="4" name="management-menu-frame">
            <a:extLst xmlns:a="http://schemas.openxmlformats.org/drawingml/2006/main">
              <a:ext uri="{FF2B5EF4-FFF2-40B4-BE49-F238E27FC236}">
                <a16:creationId xmlns:a16="http://schemas.microsoft.com/office/drawing/2014/main" id="{6051D66B-96A3-4F4A-86BB-D650A576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876425"/>
            <a:ext cx="2476500" cy="42672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4DC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4bc066b8844fe1"/>
          <a:srcRect xmlns:a="http://schemas.openxmlformats.org/drawingml/2006/main" l="0" t="15983" r="0" b="159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943100"/>
            <a:ext cx="2343150" cy="4133850"/>
          </a:xfrm>
          <a:prstGeom xmlns:a="http://schemas.openxmlformats.org/drawingml/2006/main" prst="roundRect">
            <a:avLst>
              <a:gd name="adj" fmla="val 4878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632973-064B-4CAB-B79B-FAE953BB2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33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1852D3-2D76-4F7B-B7DF-D17149E7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62175"/>
            <a:ext cx="228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E3ADFC-6B1A-442F-A6A6-2BDFC7F5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1621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A6B"/>
                </a:solidFill>
              </a:defRPr>
            </a:pPr>
            <a:r>
              <a:rPr sz="900" b="1">
                <a:solidFill>
                  <a:srgbClr val="087A6B"/>
                </a:solidFill>
              </a:rPr>
              <a:t>LISTA OPERACIONAL</a:t>
            </a:r>
          </a:p>
        </p:txBody>
      </p:sp>
      <p:sp>
        <p:nvSpPr>
          <p:cNvPr id="9" name="people-list-frame">
            <a:extLst xmlns:a="http://schemas.openxmlformats.org/drawingml/2006/main">
              <a:ext uri="{FF2B5EF4-FFF2-40B4-BE49-F238E27FC236}">
                <a16:creationId xmlns:a16="http://schemas.microsoft.com/office/drawing/2014/main" id="{480F2E88-13A2-4C13-9EE4-D55C7356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466975"/>
            <a:ext cx="83058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4DC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9640e03eec4131"/>
          <a:srcRect xmlns:a="http://schemas.openxmlformats.org/drawingml/2006/main" l="500" t="0" r="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52800" y="2533650"/>
            <a:ext cx="8172450" cy="990600"/>
          </a:xfrm>
          <a:prstGeom xmlns:a="http://schemas.openxmlformats.org/drawingml/2006/main" prst="roundRect">
            <a:avLst>
              <a:gd name="adj" fmla="val 11538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31A92E-0DAE-409A-9234-85C8D417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9433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530"/>
                </a:solidFill>
              </a:defRPr>
            </a:pPr>
            <a:r>
              <a:rPr sz="1650" b="1">
                <a:solidFill>
                  <a:srgbClr val="0B1530"/>
                </a:solidFill>
              </a:rPr>
              <a:t>Uma linha já responde quatro perguntas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CF6C64-DE5F-4B54-B79D-820AAC26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4862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B29595-6B58-489E-A3C7-74E7CABD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495800"/>
            <a:ext cx="1524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5A6C48-F93E-4DAF-84AB-5A106295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57700"/>
            <a:ext cx="3638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8"/>
                </a:solidFill>
              </a:defRPr>
            </a:pPr>
            <a:r>
              <a:rPr sz="1275" b="0">
                <a:solidFill>
                  <a:srgbClr val="5E6878"/>
                </a:solidFill>
              </a:rPr>
              <a:t>A pessoa tem vínculo com a igreja?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55F927-3704-405F-83A5-E5DBD955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9053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2D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972A43-9003-4FC9-B15B-DF7C73ED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914900"/>
            <a:ext cx="1524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76FCD8-E415-4544-941C-02F89107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76800"/>
            <a:ext cx="3638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8"/>
                </a:solidFill>
              </a:defRPr>
            </a:pPr>
            <a:r>
              <a:rPr sz="1275" b="0">
                <a:solidFill>
                  <a:srgbClr val="5E6878"/>
                </a:solidFill>
              </a:rPr>
              <a:t>Ela pertence a alguma equipe?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BF28C8-1923-4F5B-991D-C8F31197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862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9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DAA4B2-111E-4E4F-9EF7-69A4FF08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95800"/>
            <a:ext cx="1524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D85512-71BF-4B66-930A-D04B476F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57700"/>
            <a:ext cx="3638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8"/>
                </a:solidFill>
              </a:defRPr>
            </a:pPr>
            <a:r>
              <a:rPr sz="1275" b="0">
                <a:solidFill>
                  <a:srgbClr val="5E6878"/>
                </a:solidFill>
              </a:rPr>
              <a:t>Quando será a próxima escala?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7822DD-9899-4F46-853D-5D003E42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053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F84D89-297F-4AAC-A2F8-50290873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14900"/>
            <a:ext cx="1524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397904-26D2-48A1-9B4C-8700ED27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876800"/>
            <a:ext cx="3638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8"/>
                </a:solidFill>
              </a:defRPr>
            </a:pPr>
            <a:r>
              <a:rPr sz="1275" b="0">
                <a:solidFill>
                  <a:srgbClr val="5E6878"/>
                </a:solidFill>
              </a:rPr>
              <a:t>Qual ação o líder precisa tomar?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CE2291-05B3-41A1-86DE-88282682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505450"/>
            <a:ext cx="81724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0FBF7"/>
          </a:solidFill>
          <a:ln xmlns:a="http://schemas.openxmlformats.org/drawingml/2006/main" w="9525">
            <a:solidFill>
              <a:srgbClr val="CDEB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4D947E-0901-4842-96F7-11D1270C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676900"/>
            <a:ext cx="771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5E52"/>
                </a:solidFill>
              </a:defRPr>
            </a:pPr>
            <a:r>
              <a:rPr sz="1350" b="1">
                <a:solidFill>
                  <a:srgbClr val="075E52"/>
                </a:solidFill>
              </a:rPr>
              <a:t>Ver, escalar e abrir detalhes sem sair da lista.</a:t>
            </a:r>
          </a:p>
        </p:txBody>
      </p:sp>
      <p:sp>
        <p:nvSpPr>
          <p:cNvPr id="26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59B3353D-3F22-491D-858A-9AED63D8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4A0B2"/>
                </a:solidFill>
              </a:defRPr>
            </a:pPr>
            <a:r>
              <a:rPr sz="825" b="1">
                <a:solidFill>
                  <a:srgbClr val="94A0B2"/>
                </a:solidFill>
              </a:rPr>
              <a:t>CULTO+  •  ECOSSISTEMA CONECTADO</a:t>
            </a:r>
          </a:p>
        </p:txBody>
      </p:sp>
      <p:sp>
        <p:nvSpPr>
          <p:cNvPr id="2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8CD546D-AE87-4B81-9F20-4E5470B7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0B2"/>
                </a:solidFill>
              </a:defRPr>
            </a:pPr>
            <a:r>
              <a:rPr sz="825" b="1">
                <a:solidFill>
                  <a:srgbClr val="94A0B2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810739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E09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-Porta de entrada">
            <a:extLst xmlns:a="http://schemas.openxmlformats.org/drawingml/2006/main">
              <a:ext uri="{FF2B5EF4-FFF2-40B4-BE49-F238E27FC236}">
                <a16:creationId xmlns:a16="http://schemas.microsoft.com/office/drawing/2014/main" id="{7F25A780-6A39-4808-B2BA-CAA54C72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A9F2"/>
                </a:solidFill>
              </a:defRPr>
            </a:pPr>
            <a:r>
              <a:rPr sz="900" b="1">
                <a:solidFill>
                  <a:srgbClr val="C7A9F2"/>
                </a:solidFill>
              </a:rPr>
              <a:t>PORTA DE ENTRADA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B341277-63D2-44E7-8D1D-C7D30F11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O voluntariado começa com um convite que explica o propósito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B397EF-D194-44A5-9C24-FBE96EE7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906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CEE4"/>
                </a:solidFill>
              </a:defRPr>
            </a:pPr>
            <a:r>
              <a:rPr sz="1500" b="0">
                <a:solidFill>
                  <a:srgbClr val="D8CEE4"/>
                </a:solidFill>
              </a:rPr>
              <a:t>Antes do formulário, a pessoa entende o time, a igreja, a liderança e o que acontecerá depois.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952D68-24DA-4AB1-924F-B312BE67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O convite público oferece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8FCFDE-BC1C-44ED-A46C-38A43104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345E75-EFAB-4D18-9D01-24CD87FD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524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BC3EEF-11EC-4247-BBA4-B280EF19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EE7F6"/>
                </a:solidFill>
              </a:defRPr>
            </a:pPr>
            <a:r>
              <a:rPr sz="1275" b="0">
                <a:solidFill>
                  <a:srgbClr val="EEE7F6"/>
                </a:solidFill>
              </a:rPr>
              <a:t>contexto do time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3CECE9-1396-4DC5-A015-38F0C20F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9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C08818-CB0B-44E5-88E8-DF49A145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1524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63E37E-7E62-4CB2-8B89-AB813FF4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EE7F6"/>
                </a:solidFill>
              </a:defRPr>
            </a:pPr>
            <a:r>
              <a:rPr sz="1275" b="0">
                <a:solidFill>
                  <a:srgbClr val="EEE7F6"/>
                </a:solidFill>
              </a:rPr>
              <a:t>identidade da igreja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85461C-28C0-4D90-A080-ECF281F6A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2D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7F12EB-C138-44B7-A9C6-CAF407F9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524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B064B8-9C57-4F6B-82B9-5F88E471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EE7F6"/>
                </a:solidFill>
              </a:defRPr>
            </a:pPr>
            <a:r>
              <a:rPr sz="1275" b="0">
                <a:solidFill>
                  <a:srgbClr val="EEE7F6"/>
                </a:solidFill>
              </a:rPr>
              <a:t>liderança responsável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E7E3EC-968C-476F-AB37-BDCA8DD7B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D682BD-4FCE-46B6-835D-10782972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524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1EE3E9-7FF0-4144-8AF7-E4745C6B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EE7F6"/>
                </a:solidFill>
              </a:defRPr>
            </a:pPr>
            <a:r>
              <a:rPr sz="1275" b="0">
                <a:solidFill>
                  <a:srgbClr val="EEE7F6"/>
                </a:solidFill>
              </a:rPr>
              <a:t>caminho para servir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A0D96B-2CA8-47B1-B78E-B6FF46070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FAFD0"/>
                </a:solidFill>
              </a:defRPr>
            </a:pPr>
            <a:r>
              <a:rPr sz="1350" b="1">
                <a:solidFill>
                  <a:srgbClr val="BFAFD0"/>
                </a:solidFill>
              </a:rPr>
              <a:t>QR Code e link compartilham a mesma experiência.</a:t>
            </a:r>
          </a:p>
        </p:txBody>
      </p:sp>
      <p:sp>
        <p:nvSpPr>
          <p:cNvPr id="18" name="volunteer-invite-frame">
            <a:extLst xmlns:a="http://schemas.openxmlformats.org/drawingml/2006/main">
              <a:ext uri="{FF2B5EF4-FFF2-40B4-BE49-F238E27FC236}">
                <a16:creationId xmlns:a16="http://schemas.microsoft.com/office/drawing/2014/main" id="{A2A8C0DF-266A-4E24-82D3-AE7AE395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1781175"/>
            <a:ext cx="8077200" cy="4591050"/>
          </a:xfrm>
          <a:prstGeom xmlns:a="http://schemas.openxmlformats.org/drawingml/2006/main" prst="roundRect">
            <a:avLst>
              <a:gd name="adj" fmla="val 3320"/>
            </a:avLst>
          </a:prstGeom>
          <a:solidFill xmlns:a="http://schemas.openxmlformats.org/drawingml/2006/main">
            <a:srgbClr val="17101F"/>
          </a:solidFill>
          <a:ln xmlns:a="http://schemas.openxmlformats.org/drawingml/2006/main" w="9525">
            <a:solidFill>
              <a:srgbClr val="4A315D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14f6a84b954d28"/>
          <a:srcRect xmlns:a="http://schemas.openxmlformats.org/drawingml/2006/main" l="0" t="120" r="0" b="1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81400" y="1847850"/>
            <a:ext cx="7943850" cy="4457700"/>
          </a:xfrm>
          <a:prstGeom xmlns:a="http://schemas.openxmlformats.org/drawingml/2006/main" prst="roundRect">
            <a:avLst>
              <a:gd name="adj" fmla="val 2564"/>
            </a:avLst>
          </a:prstGeom>
        </p:spPr>
      </p:pic>
      <p:sp>
        <p:nvSpPr>
          <p:cNvPr id="20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38D88876-F0FC-469D-89DF-7A491B22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DCD5"/>
                </a:solidFill>
              </a:defRPr>
            </a:pPr>
            <a:r>
              <a:rPr sz="825" b="1">
                <a:solidFill>
                  <a:srgbClr val="B8DCD5"/>
                </a:solidFill>
              </a:rPr>
              <a:t>CULTO+  •  ECOSSISTEMA CONECTADO</a:t>
            </a:r>
          </a:p>
        </p:txBody>
      </p:sp>
      <p:sp>
        <p:nvSpPr>
          <p:cNvPr id="2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DBA6677-9906-4FC0-B65C-7F0AD333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8DCD5"/>
                </a:solidFill>
              </a:defRPr>
            </a:pPr>
            <a:r>
              <a:rPr sz="825" b="1">
                <a:solidFill>
                  <a:srgbClr val="B8DCD5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903394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E09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Confiança e vínculo">
            <a:extLst xmlns:a="http://schemas.openxmlformats.org/drawingml/2006/main">
              <a:ext uri="{FF2B5EF4-FFF2-40B4-BE49-F238E27FC236}">
                <a16:creationId xmlns:a16="http://schemas.microsoft.com/office/drawing/2014/main" id="{00874A8D-75FC-4966-A6DB-71128098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A9F2"/>
                </a:solidFill>
              </a:defRPr>
            </a:pPr>
            <a:r>
              <a:rPr sz="900" b="1">
                <a:solidFill>
                  <a:srgbClr val="C7A9F2"/>
                </a:solidFill>
              </a:rPr>
              <a:t>CONFIANÇA E VÍNCULO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CD51BF0-7AB2-4949-9177-62D79DBB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O vínculo com a igreja protege o aceite do voluntariado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83CA8B-9BBD-4701-925F-9231249A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906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CEE4"/>
                </a:solidFill>
              </a:defRPr>
            </a:pPr>
            <a:r>
              <a:rPr sz="1500" b="0">
                <a:solidFill>
                  <a:srgbClr val="D8CEE4"/>
                </a:solidFill>
              </a:rPr>
              <a:t>A candidatura só avança quando a pessoa entra na conta e confirma que pertence à igreja do convite.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D9D864-AA21-4136-978A-4CB73136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A regra evita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E85394-62E2-44B2-8BE4-7F229048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2D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EF8C2B-EA77-496B-88EE-9A12852DE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524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87097B-E0F5-40CD-A634-58BE88275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EE7F6"/>
                </a:solidFill>
              </a:defRPr>
            </a:pPr>
            <a:r>
              <a:rPr sz="1275" b="0">
                <a:solidFill>
                  <a:srgbClr val="EEE7F6"/>
                </a:solidFill>
              </a:rPr>
              <a:t>pedido sem identidade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088D7E-86E3-4624-9E95-488973F7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9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12FCBA-8E6D-42E1-81DE-9AF804F8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524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471F20-E905-4CE3-B220-2335F9E9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EE7F6"/>
                </a:solidFill>
              </a:defRPr>
            </a:pPr>
            <a:r>
              <a:rPr sz="1275" b="0">
                <a:solidFill>
                  <a:srgbClr val="EEE7F6"/>
                </a:solidFill>
              </a:rPr>
              <a:t>vínculo com igreja errada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BF2C0C-2A90-4573-88E6-BC296C5F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671A15-E308-4321-A9EF-0BB784D5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1524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0E228D-1AAE-45D8-A49E-B680AA26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EE7F6"/>
                </a:solidFill>
              </a:defRPr>
            </a:pPr>
            <a:r>
              <a:rPr sz="1275" b="0">
                <a:solidFill>
                  <a:srgbClr val="EEE7F6"/>
                </a:solidFill>
              </a:rPr>
              <a:t>aprovação sem contexto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BDD2D6-52E0-4BF7-BA84-FB8E2663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2571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261B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266A0D-360E-470E-9D96-4CAE21D2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292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E8A7"/>
                </a:solidFill>
              </a:defRPr>
            </a:pPr>
            <a:r>
              <a:rPr sz="1350" b="1">
                <a:solidFill>
                  <a:srgbClr val="F7E8A7"/>
                </a:solidFill>
              </a:rPr>
              <a:t>Entrar → validar vínculo → candidatar-se</a:t>
            </a:r>
          </a:p>
        </p:txBody>
      </p:sp>
      <p:sp>
        <p:nvSpPr>
          <p:cNvPr id="16" name="membership-form-frame">
            <a:extLst xmlns:a="http://schemas.openxmlformats.org/drawingml/2006/main">
              <a:ext uri="{FF2B5EF4-FFF2-40B4-BE49-F238E27FC236}">
                <a16:creationId xmlns:a16="http://schemas.microsoft.com/office/drawing/2014/main" id="{17319EEA-4AAF-406E-A639-D0312710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781175"/>
            <a:ext cx="8153400" cy="4591050"/>
          </a:xfrm>
          <a:prstGeom xmlns:a="http://schemas.openxmlformats.org/drawingml/2006/main" prst="roundRect">
            <a:avLst>
              <a:gd name="adj" fmla="val 3320"/>
            </a:avLst>
          </a:prstGeom>
          <a:solidFill xmlns:a="http://schemas.openxmlformats.org/drawingml/2006/main">
            <a:srgbClr val="17101F"/>
          </a:solidFill>
          <a:ln xmlns:a="http://schemas.openxmlformats.org/drawingml/2006/main" w="9525">
            <a:solidFill>
              <a:srgbClr val="4A315D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1d3f8c44e8499b"/>
          <a:srcRect xmlns:a="http://schemas.openxmlformats.org/drawingml/2006/main" l="0" t="594" r="0" b="5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05200" y="1847850"/>
            <a:ext cx="8020050" cy="4457700"/>
          </a:xfrm>
          <a:prstGeom xmlns:a="http://schemas.openxmlformats.org/drawingml/2006/main" prst="roundRect">
            <a:avLst>
              <a:gd name="adj" fmla="val 2564"/>
            </a:avLst>
          </a:prstGeom>
        </p:spPr>
      </p:pic>
      <p:sp>
        <p:nvSpPr>
          <p:cNvPr id="18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14AFF313-B889-4666-A0D5-A2B75C895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DCD5"/>
                </a:solidFill>
              </a:defRPr>
            </a:pPr>
            <a:r>
              <a:rPr sz="825" b="1">
                <a:solidFill>
                  <a:srgbClr val="B8DCD5"/>
                </a:solidFill>
              </a:rPr>
              <a:t>CULTO+  •  ECOSSISTEMA CONECTADO</a:t>
            </a:r>
          </a:p>
        </p:txBody>
      </p:sp>
      <p:sp>
        <p:nvSpPr>
          <p:cNvPr id="19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27B4695-63B1-411A-8DA4-90E92F58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8DCD5"/>
                </a:solidFill>
              </a:defRPr>
            </a:pPr>
            <a:r>
              <a:rPr sz="825" b="1">
                <a:solidFill>
                  <a:srgbClr val="B8DCD5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10340309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-Inbox da liderança">
            <a:extLst xmlns:a="http://schemas.openxmlformats.org/drawingml/2006/main">
              <a:ext uri="{FF2B5EF4-FFF2-40B4-BE49-F238E27FC236}">
                <a16:creationId xmlns:a16="http://schemas.microsoft.com/office/drawing/2014/main" id="{16EDCAC0-D204-4E1C-AA33-6C56BE14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A6B"/>
                </a:solidFill>
              </a:defRPr>
            </a:pPr>
            <a:r>
              <a:rPr sz="900" b="1">
                <a:solidFill>
                  <a:srgbClr val="087A6B"/>
                </a:solidFill>
              </a:rPr>
              <a:t>INBOX DA LIDERANÇA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27C550D-0032-46B4-BAC2-319AF156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530"/>
                </a:solidFill>
              </a:defRPr>
            </a:pPr>
            <a:r>
              <a:rPr sz="2925" b="1">
                <a:solidFill>
                  <a:srgbClr val="0B1530"/>
                </a:solidFill>
              </a:rPr>
              <a:t>A liderança aprova com contexto, equipe e função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8D57E3-4948-4B36-AFD8-A5A07FDB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906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878"/>
                </a:solidFill>
              </a:defRPr>
            </a:pPr>
            <a:r>
              <a:rPr sz="1500" b="0">
                <a:solidFill>
                  <a:srgbClr val="5E6878"/>
                </a:solidFill>
              </a:rPr>
              <a:t>A decisão deixa de ser um simples sim ou não: ela já organiza onde e como a pessoa servirá.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267269-B661-4479-89CC-31CD31CA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530"/>
                </a:solidFill>
              </a:defRPr>
            </a:pPr>
            <a:r>
              <a:rPr sz="1575" b="1">
                <a:solidFill>
                  <a:srgbClr val="0B1530"/>
                </a:solidFill>
              </a:rPr>
              <a:t>No mesmo fluxo, o gestor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232702-6676-40E8-BDDA-1B26F9DE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34D2B9-CF4F-4A51-89EE-12D42F60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524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575749-4030-44FF-8474-B44C88FF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3829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8"/>
                </a:solidFill>
              </a:defRPr>
            </a:pPr>
            <a:r>
              <a:rPr sz="1275" b="0">
                <a:solidFill>
                  <a:srgbClr val="5E6878"/>
                </a:solidFill>
              </a:rPr>
              <a:t>entende a origem da solicitação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DDD2D5-0D23-4426-93A9-7F1847C8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2D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AD53D2-F02A-44F8-A206-F7E60F9B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524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7CADE6-A41C-49A1-B54F-7DDF09D6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3829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8"/>
                </a:solidFill>
              </a:defRPr>
            </a:pPr>
            <a:r>
              <a:rPr sz="1275" b="0">
                <a:solidFill>
                  <a:srgbClr val="5E6878"/>
                </a:solidFill>
              </a:rPr>
              <a:t>seleciona a equipe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4CFB8B-E168-440E-AE49-62A06FF9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9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2C5FD0-1AB4-4031-8B36-B8641126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524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C97B63-6578-4DEB-BC2E-9EF94B7AA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3829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8"/>
                </a:solidFill>
              </a:defRPr>
            </a:pPr>
            <a:r>
              <a:rPr sz="1275" b="0">
                <a:solidFill>
                  <a:srgbClr val="5E6878"/>
                </a:solidFill>
              </a:rPr>
              <a:t>define a função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699B85-5FD5-4F17-BFB1-7BF9407F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98D361-2F73-4F4C-A114-F7164A68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1524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4A984C-FFC2-4DB6-8A06-64068F828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3829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8"/>
                </a:solidFill>
              </a:defRPr>
            </a:pPr>
            <a:r>
              <a:rPr sz="1275" b="0">
                <a:solidFill>
                  <a:srgbClr val="5E6878"/>
                </a:solidFill>
              </a:rPr>
              <a:t>aprova e adiciona ao time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57B406-DEDB-4C12-B62C-9F15FB28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4286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0FBF7"/>
          </a:solidFill>
          <a:ln xmlns:a="http://schemas.openxmlformats.org/drawingml/2006/main" w="9525">
            <a:solidFill>
              <a:srgbClr val="CDEB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F9664B-CD59-4982-87D3-0B793514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91150"/>
            <a:ext cx="3829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5E52"/>
                </a:solidFill>
              </a:defRPr>
            </a:pPr>
            <a:r>
              <a:rPr sz="1350" b="1">
                <a:solidFill>
                  <a:srgbClr val="075E52"/>
                </a:solidFill>
              </a:rPr>
              <a:t>Decisão e organização acontecem juntas.</a:t>
            </a:r>
          </a:p>
        </p:txBody>
      </p:sp>
      <p:sp>
        <p:nvSpPr>
          <p:cNvPr id="19" name="approval-frame">
            <a:extLst xmlns:a="http://schemas.openxmlformats.org/drawingml/2006/main">
              <a:ext uri="{FF2B5EF4-FFF2-40B4-BE49-F238E27FC236}">
                <a16:creationId xmlns:a16="http://schemas.microsoft.com/office/drawing/2014/main" id="{800D7C57-E27E-4F28-9C39-46299CBC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704975"/>
            <a:ext cx="4419600" cy="47053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4DC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28c2e1def6449b"/>
          <a:stretch xmlns:a="http://schemas.openxmlformats.org/drawingml/2006/main"/>
        </p:blipFill>
        <p:spPr>
          <a:xfrm xmlns:a="http://schemas.openxmlformats.org/drawingml/2006/main">
            <a:off x="7820025" y="1771650"/>
            <a:ext cx="2743200" cy="457200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21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C5F8EC38-6D53-4577-8D3D-543B53F3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4A0B2"/>
                </a:solidFill>
              </a:defRPr>
            </a:pPr>
            <a:r>
              <a:rPr sz="825" b="1">
                <a:solidFill>
                  <a:srgbClr val="94A0B2"/>
                </a:solidFill>
              </a:rPr>
              <a:t>CULTO+  •  ECOSSISTEMA CONECTADO</a:t>
            </a:r>
          </a:p>
        </p:txBody>
      </p:sp>
      <p:sp>
        <p:nvSpPr>
          <p:cNvPr id="22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710C01F-EE1A-4820-9EAA-AB6E016E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0B2"/>
                </a:solidFill>
              </a:defRPr>
            </a:pPr>
            <a:r>
              <a:rPr sz="825" b="1">
                <a:solidFill>
                  <a:srgbClr val="94A0B2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7750236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Comunicação operacional">
            <a:extLst xmlns:a="http://schemas.openxmlformats.org/drawingml/2006/main">
              <a:ext uri="{FF2B5EF4-FFF2-40B4-BE49-F238E27FC236}">
                <a16:creationId xmlns:a16="http://schemas.microsoft.com/office/drawing/2014/main" id="{33DA51F8-7B3D-4781-B86F-87A48CFB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A6B"/>
                </a:solidFill>
              </a:defRPr>
            </a:pPr>
            <a:r>
              <a:rPr sz="900" b="1">
                <a:solidFill>
                  <a:srgbClr val="087A6B"/>
                </a:solidFill>
              </a:rPr>
              <a:t>COMUNICAÇÃO OPERACIONAL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55F8C6F-C2F2-4AB9-AA56-CA093D66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530"/>
                </a:solidFill>
              </a:defRPr>
            </a:pPr>
            <a:r>
              <a:rPr sz="2775" b="1">
                <a:solidFill>
                  <a:srgbClr val="0B1530"/>
                </a:solidFill>
              </a:rPr>
              <a:t>Notificações transformam pendências em agenda de decisão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2532F2-87BB-4AAD-84B5-A8414226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906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878"/>
                </a:solidFill>
              </a:defRPr>
            </a:pPr>
            <a:r>
              <a:rPr sz="1500" b="0">
                <a:solidFill>
                  <a:srgbClr val="5E6878"/>
                </a:solidFill>
              </a:rPr>
              <a:t>Aprovações, voluntários e cultos aparecem agrupados — com acesso rápido à central completa.</a:t>
            </a:r>
          </a:p>
        </p:txBody>
      </p:sp>
      <p:sp>
        <p:nvSpPr>
          <p:cNvPr id="4" name="notifications-frame">
            <a:extLst xmlns:a="http://schemas.openxmlformats.org/drawingml/2006/main">
              <a:ext uri="{FF2B5EF4-FFF2-40B4-BE49-F238E27FC236}">
                <a16:creationId xmlns:a16="http://schemas.microsoft.com/office/drawing/2014/main" id="{816D1A79-59AB-4040-B835-FE6FC587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819275"/>
            <a:ext cx="4095750" cy="4476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4DC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20ef56b1c64104"/>
          <a:stretch xmlns:a="http://schemas.openxmlformats.org/drawingml/2006/main"/>
        </p:blipFill>
        <p:spPr>
          <a:xfrm xmlns:a="http://schemas.openxmlformats.org/drawingml/2006/main">
            <a:off x="1155927" y="1885950"/>
            <a:ext cx="2869746" cy="4343400"/>
          </a:xfrm>
          <a:prstGeom xmlns:a="http://schemas.openxmlformats.org/drawingml/2006/main" prst="roundRect">
            <a:avLst>
              <a:gd name="adj" fmla="val 2885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781DE5-D83A-412F-9031-2A0ACA76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526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530"/>
                </a:solidFill>
              </a:defRPr>
            </a:pPr>
            <a:r>
              <a:rPr sz="1725" b="1">
                <a:solidFill>
                  <a:srgbClr val="0B1530"/>
                </a:solidFill>
              </a:rPr>
              <a:t>O painel responde três perguntas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D87415-D9E4-4012-AD4A-210339EE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09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CFF087-6197-46EE-930E-B221C12E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19400"/>
            <a:ext cx="1524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77BC95-E5D3-43E2-B342-04E8A8FA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781300"/>
            <a:ext cx="544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8"/>
                </a:solidFill>
              </a:defRPr>
            </a:pPr>
            <a:r>
              <a:rPr sz="1275" b="0">
                <a:solidFill>
                  <a:srgbClr val="5E6878"/>
                </a:solidFill>
              </a:rPr>
              <a:t>quantas decisões aguardam?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9A08E2-3BD8-49B7-B05F-13F1B8B9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62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2D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2188D1-0427-4B8D-8FE0-56D80179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71850"/>
            <a:ext cx="1524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5E5815-78D5-4E70-956A-D2221AF0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333750"/>
            <a:ext cx="544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8"/>
                </a:solidFill>
              </a:defRPr>
            </a:pPr>
            <a:r>
              <a:rPr sz="1275" b="0">
                <a:solidFill>
                  <a:srgbClr val="5E6878"/>
                </a:solidFill>
              </a:rPr>
              <a:t>qual pessoa precisa de retorno?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DFAFE2-EC73-4F48-87DF-B32E5842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914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9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D116E5-22EF-46AA-BA2D-2CE24912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924300"/>
            <a:ext cx="1524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855F85-972F-4946-9CA3-44D9F0E8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886200"/>
            <a:ext cx="544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8"/>
                </a:solidFill>
              </a:defRPr>
            </a:pPr>
            <a:r>
              <a:rPr sz="1275" b="0">
                <a:solidFill>
                  <a:srgbClr val="5E6878"/>
                </a:solidFill>
              </a:rPr>
              <a:t>qual culto está incompleto?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115D51-18AC-4763-8084-5E02EE2C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953000"/>
            <a:ext cx="5715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0FBF7"/>
          </a:solidFill>
          <a:ln xmlns:a="http://schemas.openxmlformats.org/drawingml/2006/main" w="9525">
            <a:solidFill>
              <a:srgbClr val="CDEB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D010B2-AEA6-4F85-8F24-B406909F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124450"/>
            <a:ext cx="525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5E52"/>
                </a:solidFill>
              </a:defRPr>
            </a:pPr>
            <a:r>
              <a:rPr sz="1350" b="1">
                <a:solidFill>
                  <a:srgbClr val="075E52"/>
                </a:solidFill>
              </a:rPr>
              <a:t>A pendência fica visível sem dominar a página inteira.</a:t>
            </a:r>
          </a:p>
        </p:txBody>
      </p:sp>
      <p:sp>
        <p:nvSpPr>
          <p:cNvPr id="18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6007E248-97D6-41C4-B068-07F9E77FB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4A0B2"/>
                </a:solidFill>
              </a:defRPr>
            </a:pPr>
            <a:r>
              <a:rPr sz="825" b="1">
                <a:solidFill>
                  <a:srgbClr val="94A0B2"/>
                </a:solidFill>
              </a:rPr>
              <a:t>CULTO+  •  ECOSSISTEMA CONECTADO</a:t>
            </a:r>
          </a:p>
        </p:txBody>
      </p:sp>
      <p:sp>
        <p:nvSpPr>
          <p:cNvPr id="19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52411AA-CA6C-4537-B234-7CCDC727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0B2"/>
                </a:solidFill>
              </a:defRPr>
            </a:pPr>
            <a:r>
              <a:rPr sz="825" b="1">
                <a:solidFill>
                  <a:srgbClr val="94A0B2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53720227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Retorno ao membro">
            <a:extLst xmlns:a="http://schemas.openxmlformats.org/drawingml/2006/main">
              <a:ext uri="{FF2B5EF4-FFF2-40B4-BE49-F238E27FC236}">
                <a16:creationId xmlns:a16="http://schemas.microsoft.com/office/drawing/2014/main" id="{D5900E38-AEF0-4AB5-BF30-D15A65CC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A6B"/>
                </a:solidFill>
              </a:defRPr>
            </a:pPr>
            <a:r>
              <a:rPr sz="900" b="1">
                <a:solidFill>
                  <a:srgbClr val="087A6B"/>
                </a:solidFill>
              </a:rPr>
              <a:t>RETORNO AO MEMBRO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F904A16-6030-423C-A1B2-2B915ACE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530"/>
                </a:solidFill>
              </a:defRPr>
            </a:pPr>
            <a:r>
              <a:rPr sz="2850" b="1">
                <a:solidFill>
                  <a:srgbClr val="0B1530"/>
                </a:solidFill>
              </a:rPr>
              <a:t>Uma solicitação válida retorna com cuidado e continuidade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8846A5-633B-43B9-AB7C-8E6AC8BA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906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878"/>
                </a:solidFill>
              </a:defRPr>
            </a:pPr>
            <a:r>
              <a:rPr sz="1500" b="0">
                <a:solidFill>
                  <a:srgbClr val="5E6878"/>
                </a:solidFill>
              </a:rPr>
              <a:t>Depois do envio, a pessoa sabe que foi recebida e encontra o caminho para acompanhar o processo.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1CC27F-FD67-41D1-AFA9-A2CC334C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530"/>
                </a:solidFill>
              </a:defRPr>
            </a:pPr>
            <a:r>
              <a:rPr sz="1575" b="1">
                <a:solidFill>
                  <a:srgbClr val="0B1530"/>
                </a:solidFill>
              </a:rPr>
              <a:t>A experiência fecha o ciclo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9D9FF7-CC1D-4F29-A5F6-C917245E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AD1A2E-EF93-4BF5-AAEF-5086D4D1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524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FC599E-0A92-4D4D-9687-DB3C75BB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3829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8"/>
                </a:solidFill>
              </a:defRPr>
            </a:pPr>
            <a:r>
              <a:rPr sz="1275" b="0">
                <a:solidFill>
                  <a:srgbClr val="5E6878"/>
                </a:solidFill>
              </a:rPr>
              <a:t>confirma o recebimento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7A02D9-114C-496B-B631-2D9D2168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2D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CD6F92-78A3-4ECE-B5E8-AA455DDB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524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5A648A-E3D2-44BB-A1E0-B5C1FC7E0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3829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8"/>
                </a:solidFill>
              </a:defRPr>
            </a:pPr>
            <a:r>
              <a:rPr sz="1275" b="0">
                <a:solidFill>
                  <a:srgbClr val="5E6878"/>
                </a:solidFill>
              </a:rPr>
              <a:t>explica o próximo passo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5B3BCF-B548-442F-83AA-2848BEF7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9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01B25B-5901-4DCA-AAE6-915E4764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524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AABAED-0AF8-4B0B-966F-9F4E81EB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3829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8"/>
                </a:solidFill>
              </a:defRPr>
            </a:pPr>
            <a:r>
              <a:rPr sz="1275" b="0">
                <a:solidFill>
                  <a:srgbClr val="5E6878"/>
                </a:solidFill>
              </a:rPr>
              <a:t>oferece acompanhamento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7D073C-9C8D-4086-B8FD-D82713503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EA30E5-F69B-482D-A6B7-03A3EB0C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1524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AEE79B-BB83-4A18-AB71-764ECF2C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411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8"/>
                </a:solidFill>
              </a:defRPr>
            </a:pPr>
            <a:r>
              <a:rPr sz="1275" b="0">
                <a:solidFill>
                  <a:srgbClr val="5E6878"/>
                </a:solidFill>
              </a:rPr>
              <a:t>permite tentar novamente quando necessário</a:t>
            </a:r>
          </a:p>
        </p:txBody>
      </p:sp>
      <p:sp>
        <p:nvSpPr>
          <p:cNvPr id="17" name="response-frame">
            <a:extLst xmlns:a="http://schemas.openxmlformats.org/drawingml/2006/main">
              <a:ext uri="{FF2B5EF4-FFF2-40B4-BE49-F238E27FC236}">
                <a16:creationId xmlns:a16="http://schemas.microsoft.com/office/drawing/2014/main" id="{8BFEE6BA-0D57-49D6-B287-07CCE11B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085975"/>
            <a:ext cx="6096000" cy="415290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4DC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eb5a18af34404a"/>
          <a:stretch xmlns:a="http://schemas.openxmlformats.org/drawingml/2006/main"/>
        </p:blipFill>
        <p:spPr>
          <a:xfrm xmlns:a="http://schemas.openxmlformats.org/drawingml/2006/main">
            <a:off x="5410200" y="2338296"/>
            <a:ext cx="5962650" cy="3648258"/>
          </a:xfrm>
          <a:prstGeom xmlns:a="http://schemas.openxmlformats.org/drawingml/2006/main" prst="roundRect">
            <a:avLst>
              <a:gd name="adj" fmla="val 2844"/>
            </a:avLst>
          </a:prstGeom>
        </p:spPr>
      </p:pic>
      <p:sp>
        <p:nvSpPr>
          <p:cNvPr id="19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652E622F-F97C-4F83-9F77-1E63F55A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4A0B2"/>
                </a:solidFill>
              </a:defRPr>
            </a:pPr>
            <a:r>
              <a:rPr sz="825" b="1">
                <a:solidFill>
                  <a:srgbClr val="94A0B2"/>
                </a:solidFill>
              </a:rPr>
              <a:t>CULTO+  •  ECOSSISTEMA CONECTADO</a:t>
            </a:r>
          </a:p>
        </p:txBody>
      </p:sp>
      <p:sp>
        <p:nvSpPr>
          <p:cNvPr id="2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5B6E52E-532F-4553-B9E8-0E8525EC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0B2"/>
                </a:solidFill>
              </a:defRPr>
            </a:pPr>
            <a:r>
              <a:rPr sz="825" b="1">
                <a:solidFill>
                  <a:srgbClr val="94A0B2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89100197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63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-Workspace Pastoral">
            <a:extLst xmlns:a="http://schemas.openxmlformats.org/drawingml/2006/main">
              <a:ext uri="{FF2B5EF4-FFF2-40B4-BE49-F238E27FC236}">
                <a16:creationId xmlns:a16="http://schemas.microsoft.com/office/drawing/2014/main" id="{4149DC7F-EB94-468B-B1AC-B41AE599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ED4CA"/>
                </a:solidFill>
              </a:defRPr>
            </a:pPr>
            <a:r>
              <a:rPr sz="900" b="1">
                <a:solidFill>
                  <a:srgbClr val="9ED4CA"/>
                </a:solidFill>
              </a:rPr>
              <a:t>WORKSPACE PASTORAL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C817E0D-46E4-49AF-B262-C613C31B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Ensino e cuidado pastoral vivem no mesmo ecossistema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997B93-3204-4781-ADCB-9E7E268F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906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DE8E2"/>
                </a:solidFill>
              </a:defRPr>
            </a:pPr>
            <a:r>
              <a:rPr sz="1500" b="0">
                <a:solidFill>
                  <a:srgbClr val="CDE8E2"/>
                </a:solidFill>
              </a:rPr>
              <a:t>O líder alterna de visão sem perder sua conta, sua jornada pessoal ou o contexto da igreja.</a:t>
            </a:r>
          </a:p>
        </p:txBody>
      </p:sp>
      <p:sp>
        <p:nvSpPr>
          <p:cNvPr id="4" name="pastoral-frame">
            <a:extLst xmlns:a="http://schemas.openxmlformats.org/drawingml/2006/main">
              <a:ext uri="{FF2B5EF4-FFF2-40B4-BE49-F238E27FC236}">
                <a16:creationId xmlns:a16="http://schemas.microsoft.com/office/drawing/2014/main" id="{01E556CA-4844-4EA0-8629-09E852ED2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800225"/>
            <a:ext cx="2914650" cy="4533900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2A6B64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697d0dbda649a2"/>
          <a:stretch xmlns:a="http://schemas.openxmlformats.org/drawingml/2006/main"/>
        </p:blipFill>
        <p:spPr>
          <a:xfrm xmlns:a="http://schemas.openxmlformats.org/drawingml/2006/main">
            <a:off x="1093470" y="1866900"/>
            <a:ext cx="1813560" cy="4400550"/>
          </a:xfrm>
          <a:prstGeom xmlns:a="http://schemas.openxmlformats.org/drawingml/2006/main" prst="roundRect">
            <a:avLst>
              <a:gd name="adj" fmla="val 411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B33DA3-8C6F-4E3D-80F2-DAC98085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1526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O workspace organiza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791D8D-FAEC-49B4-B5FC-FAC16B4D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809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6AE330-BD45-4B9F-A4F1-2E98AEF7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819400"/>
            <a:ext cx="1524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DA92F6-7C28-481A-9286-90AED6E7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8130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6F3"/>
                </a:solidFill>
              </a:defRPr>
            </a:pPr>
            <a:r>
              <a:rPr sz="1275" b="0">
                <a:solidFill>
                  <a:srgbClr val="EAF6F3"/>
                </a:solidFill>
              </a:rPr>
              <a:t>painel pastoral e acompanhamentos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9AAF6F-0BAE-407B-ABB1-0BB27352F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3242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2D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BAAC3D-A151-4851-87C1-8BE7B0EF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333750"/>
            <a:ext cx="1524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06AD32-F755-4760-94FD-CA8890B08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956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6F3"/>
                </a:solidFill>
              </a:defRPr>
            </a:pPr>
            <a:r>
              <a:rPr sz="1275" b="0">
                <a:solidFill>
                  <a:srgbClr val="EAF6F3"/>
                </a:solidFill>
              </a:rPr>
              <a:t>salas, conteúdo e acervo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0E122D-2975-471F-A937-ED04503F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8385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9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5C8A3F-2002-43B0-B521-CCDEFB01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848100"/>
            <a:ext cx="1524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2B12E8-950F-459E-906C-BED54634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1000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6F3"/>
                </a:solidFill>
              </a:defRPr>
            </a:pPr>
            <a:r>
              <a:rPr sz="1275" b="0">
                <a:solidFill>
                  <a:srgbClr val="EAF6F3"/>
                </a:solidFill>
              </a:rPr>
              <a:t>cultos e preparação de mensagens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20C9B6-B6D9-4226-AC2E-11ADE8DF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35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78B498-CBD8-455C-AD01-48968E2A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362450"/>
            <a:ext cx="1524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B68455-BB7F-43E2-B747-F1C3316F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243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6F3"/>
                </a:solidFill>
              </a:defRPr>
            </a:pPr>
            <a:r>
              <a:rPr sz="1275" b="0">
                <a:solidFill>
                  <a:srgbClr val="EAF6F3"/>
                </a:solidFill>
              </a:rPr>
              <a:t>orações guiadas e próximos cuidados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5CD9DB-C83A-4B9F-B2E4-CC90B35D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219700"/>
            <a:ext cx="7048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B514A"/>
          </a:solidFill>
          <a:ln xmlns:a="http://schemas.openxmlformats.org/drawingml/2006/main" w="9525">
            <a:solidFill>
              <a:srgbClr val="2A6B6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A3F08B-B75F-4604-B727-6609B004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486400"/>
            <a:ext cx="643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DF4EC"/>
                </a:solidFill>
              </a:defRPr>
            </a:pPr>
            <a:r>
              <a:rPr sz="1500" b="1">
                <a:solidFill>
                  <a:srgbClr val="DDF4EC"/>
                </a:solidFill>
              </a:rPr>
              <a:t>Minha visão  ↔  Workspace Pastoral  ↔  Gestão da Igreja</a:t>
            </a:r>
          </a:p>
        </p:txBody>
      </p:sp>
      <p:sp>
        <p:nvSpPr>
          <p:cNvPr id="21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3D133E9B-05CF-4688-AE5F-6E66A6CD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DCD5"/>
                </a:solidFill>
              </a:defRPr>
            </a:pPr>
            <a:r>
              <a:rPr sz="825" b="1">
                <a:solidFill>
                  <a:srgbClr val="B8DCD5"/>
                </a:solidFill>
              </a:rPr>
              <a:t>CULTO+  •  ECOSSISTEMA CONECTADO</a:t>
            </a:r>
          </a:p>
        </p:txBody>
      </p:sp>
      <p:sp>
        <p:nvSpPr>
          <p:cNvPr id="22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7B9BE86-FFC4-4BD1-9A78-CA031BDF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8DCD5"/>
                </a:solidFill>
              </a:defRPr>
            </a:pPr>
            <a:r>
              <a:rPr sz="825" b="1">
                <a:solidFill>
                  <a:srgbClr val="B8DCD5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88565222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eyebrow-Síntese">
            <a:extLst xmlns:a="http://schemas.openxmlformats.org/drawingml/2006/main">
              <a:ext uri="{FF2B5EF4-FFF2-40B4-BE49-F238E27FC236}">
                <a16:creationId xmlns:a16="http://schemas.microsoft.com/office/drawing/2014/main" id="{D6A5EB6F-1DCC-42B5-A361-1E6B5CC9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A6B"/>
                </a:solidFill>
              </a:defRPr>
            </a:pPr>
            <a:r>
              <a:rPr sz="900" b="1">
                <a:solidFill>
                  <a:srgbClr val="087A6B"/>
                </a:solidFill>
              </a:rPr>
              <a:t>SÍNTESE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2A6263-FAB4-44FA-A73F-A524338A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530"/>
                </a:solidFill>
              </a:defRPr>
            </a:pPr>
            <a:r>
              <a:rPr sz="2850" b="1">
                <a:solidFill>
                  <a:srgbClr val="0B1530"/>
                </a:solidFill>
              </a:rPr>
              <a:t>O ciclo completo conecta fé, serviço, operação e cuidado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7567CF-4727-468D-B0F7-1096F5C6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906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878"/>
                </a:solidFill>
              </a:defRPr>
            </a:pPr>
            <a:r>
              <a:rPr sz="1500" b="0">
                <a:solidFill>
                  <a:srgbClr val="5E6878"/>
                </a:solidFill>
              </a:rPr>
              <a:t>Cada tela existe para preparar a próxima decisão — e devolver contexto à pessoa e à igreja.</a:t>
            </a:r>
          </a:p>
        </p:txBody>
      </p:sp>
      <p:sp>
        <p:nvSpPr>
          <p:cNvPr id="4" name="journey-line">
            <a:extLst xmlns:a="http://schemas.openxmlformats.org/drawingml/2006/main">
              <a:ext uri="{FF2B5EF4-FFF2-40B4-BE49-F238E27FC236}">
                <a16:creationId xmlns:a16="http://schemas.microsoft.com/office/drawing/2014/main" id="{74CDE0EB-1119-4C30-8587-5A205410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19450"/>
            <a:ext cx="942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D6E81E-DF28-4AA7-828A-DB7E4F62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AFF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2EAEA7-E2BD-413D-9B5E-1CE775E5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9432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83B260-7218-441F-8384-2CA8E7C1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1242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190ED2-8E72-449D-8C9D-36F63A88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530"/>
                </a:solidFill>
              </a:defRPr>
            </a:pPr>
            <a:r>
              <a:rPr sz="1650" b="1">
                <a:solidFill>
                  <a:srgbClr val="0B1530"/>
                </a:solidFill>
              </a:rPr>
              <a:t>Viver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B7A4E4-6999-418A-AFEF-0F76CA44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638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Minha visão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3DC2B5-1532-45BC-AF56-29825B3F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68605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AF1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604FC2-DCC5-4650-A752-3D8CB43E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9432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2D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D6A1B9-9427-46F0-A671-8607E0D3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1242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2C5488-FE7E-41C5-8D0F-FED2E3F1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09575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530"/>
                </a:solidFill>
              </a:defRPr>
            </a:pPr>
            <a:r>
              <a:rPr sz="1650" b="1">
                <a:solidFill>
                  <a:srgbClr val="0B1530"/>
                </a:solidFill>
              </a:rPr>
              <a:t>Crescer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D117A7-41FA-467E-B361-DA7CFABE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476750"/>
            <a:ext cx="1638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Bíblia e formação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B37215-432D-4C08-8F44-BC14A2C3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8605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FE7966-3BB2-4170-94D6-66E59F15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9432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9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F21121-50BC-40F6-B7FE-11CD036E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1242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703F27-640E-418C-8869-65FEADEB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9575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530"/>
                </a:solidFill>
              </a:defRPr>
            </a:pPr>
            <a:r>
              <a:rPr sz="1650" b="1">
                <a:solidFill>
                  <a:srgbClr val="0B1530"/>
                </a:solidFill>
              </a:rPr>
              <a:t>Participar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94CB61-B8E4-4721-B7A1-38DF8762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76750"/>
            <a:ext cx="1638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Cultos e comunidade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62F68D-12B1-4997-B598-8D651736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8605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4EC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DAF3BC-A070-4756-BE72-2E5D7714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9432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2F3B3C-FD7A-4AF1-87E8-92B06B91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1242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93936A-FF0B-40ED-8122-6B3BB42B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9575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530"/>
                </a:solidFill>
              </a:defRPr>
            </a:pPr>
            <a:r>
              <a:rPr sz="1650" b="1">
                <a:solidFill>
                  <a:srgbClr val="0B1530"/>
                </a:solidFill>
              </a:rPr>
              <a:t>Servir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37B822-88C3-4438-A84B-EBB71A53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76750"/>
            <a:ext cx="1638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Convite e escala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87C97C-9436-441B-9C52-7807395F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8605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8FA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E720A4-C622-400E-B85A-33021DD5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9432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7A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0BF25A-2622-4E76-92FF-34A16359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1242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D9487A-B1B1-4398-B8AA-5B26EFD5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9575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530"/>
                </a:solidFill>
              </a:defRPr>
            </a:pPr>
            <a:r>
              <a:rPr sz="1650" b="1">
                <a:solidFill>
                  <a:srgbClr val="0B1530"/>
                </a:solidFill>
              </a:rPr>
              <a:t>Gerir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C56DF8-8F7B-40F2-954E-A7E603B3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76750"/>
            <a:ext cx="1638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Decidir e corrigir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74B9EC-04B0-4434-9091-19779771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68605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CF3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8F4F42-1491-42F8-8E74-0D76A8D0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29432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5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ADF717-429E-4059-AB2A-753A501E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31242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4F7C24-C6CE-441B-9100-0DC1D1CB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09575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530"/>
                </a:solidFill>
              </a:defRPr>
            </a:pPr>
            <a:r>
              <a:rPr sz="1650" b="1">
                <a:solidFill>
                  <a:srgbClr val="0B1530"/>
                </a:solidFill>
              </a:rPr>
              <a:t>Cuidar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8DD387-9AF4-4659-BAEC-463B0ECB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476750"/>
            <a:ext cx="1638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Retorno e pastoral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1D2749-F9C1-4533-8437-6F562B0B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524500"/>
            <a:ext cx="80391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0FBF7"/>
          </a:solidFill>
          <a:ln xmlns:a="http://schemas.openxmlformats.org/drawingml/2006/main" w="9525">
            <a:solidFill>
              <a:srgbClr val="CDEBD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DF9929-7482-40A9-934F-E90EEE49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695950"/>
            <a:ext cx="7581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5E52"/>
                </a:solidFill>
              </a:defRPr>
            </a:pPr>
            <a:r>
              <a:rPr sz="1350" b="1">
                <a:solidFill>
                  <a:srgbClr val="075E52"/>
                </a:solidFill>
              </a:rPr>
              <a:t>O ponto de chegada é também o contexto do próximo cuidado.</a:t>
            </a:r>
          </a:p>
        </p:txBody>
      </p:sp>
      <p:sp>
        <p:nvSpPr>
          <p:cNvPr id="37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9DA0FEEB-8B80-4492-B05E-54B050C7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4A0B2"/>
                </a:solidFill>
              </a:defRPr>
            </a:pPr>
            <a:r>
              <a:rPr sz="825" b="1">
                <a:solidFill>
                  <a:srgbClr val="94A0B2"/>
                </a:solidFill>
              </a:rPr>
              <a:t>CULTO+  •  ECOSSISTEMA CONECTADO</a:t>
            </a:r>
          </a:p>
        </p:txBody>
      </p:sp>
      <p:sp>
        <p:nvSpPr>
          <p:cNvPr id="3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7DD5F62-1AF4-4752-91A4-0787A3C1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0B2"/>
                </a:solidFill>
              </a:defRPr>
            </a:pPr>
            <a:r>
              <a:rPr sz="825" b="1">
                <a:solidFill>
                  <a:srgbClr val="94A0B2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07381432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63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logo-surface">
            <a:extLst xmlns:a="http://schemas.openxmlformats.org/drawingml/2006/main">
              <a:ext uri="{FF2B5EF4-FFF2-40B4-BE49-F238E27FC236}">
                <a16:creationId xmlns:a16="http://schemas.microsoft.com/office/drawing/2014/main" id="{95C45E42-8B54-42A5-91A9-9836DD55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8669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f2970e5d3244df"/>
          <a:stretch xmlns:a="http://schemas.openxmlformats.org/drawingml/2006/main"/>
        </p:blipFill>
        <p:spPr>
          <a:xfrm xmlns:a="http://schemas.openxmlformats.org/drawingml/2006/main">
            <a:off x="800100" y="361950"/>
            <a:ext cx="1333500" cy="666750"/>
          </a:xfrm>
          <a:prstGeom xmlns:a="http://schemas.openxmlformats.org/drawingml/2006/main" prst="rect">
            <a:avLst/>
          </a:prstGeom>
        </p:spPr>
      </p:pic>
      <p:sp>
        <p:nvSpPr>
          <p:cNvPr id="3" name="eyebrow-Culto+ conectado">
            <a:extLst xmlns:a="http://schemas.openxmlformats.org/drawingml/2006/main">
              <a:ext uri="{FF2B5EF4-FFF2-40B4-BE49-F238E27FC236}">
                <a16:creationId xmlns:a16="http://schemas.microsoft.com/office/drawing/2014/main" id="{EAA10168-826B-4336-BE13-2510CDE70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ED4CA"/>
                </a:solidFill>
              </a:defRPr>
            </a:pPr>
            <a:r>
              <a:rPr sz="900" b="1">
                <a:solidFill>
                  <a:srgbClr val="9ED4CA"/>
                </a:solidFill>
              </a:rPr>
              <a:t>CULTO+ CONECTADO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FEF1BE-F5CD-4398-ACA5-F96F4C2F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19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Uma conta.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Três visões.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Um único movimento.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85E1F1-7632-4743-9DF3-99A0CBBF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71950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DE8E2"/>
                </a:solidFill>
              </a:defRPr>
            </a:pPr>
            <a:r>
              <a:rPr sz="1650" b="0">
                <a:solidFill>
                  <a:srgbClr val="CDE8E2"/>
                </a:solidFill>
              </a:rPr>
              <a:t>Culto+ conecta a jornada pessoal, a liderança pastoral e a operação da igreja.</a:t>
            </a:r>
          </a:p>
        </p:txBody>
      </p:sp>
      <p:sp>
        <p:nvSpPr>
          <p:cNvPr id="6" name="closing-divider">
            <a:extLst xmlns:a="http://schemas.openxmlformats.org/drawingml/2006/main">
              <a:ext uri="{FF2B5EF4-FFF2-40B4-BE49-F238E27FC236}">
                <a16:creationId xmlns:a16="http://schemas.microsoft.com/office/drawing/2014/main" id="{B7F51C50-CB0F-4C01-A858-BA54F881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543050"/>
            <a:ext cx="381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6B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A5F4F6-DE9A-43D3-BE68-96B04BC8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52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8B949C-AE8A-4348-801D-F5948B18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05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C9C5B5-3858-4401-8F41-18D40B67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33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Minha visão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5EBADA-2324-43E5-8F3F-2A03EE60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764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DCD5"/>
                </a:solidFill>
              </a:defRPr>
            </a:pPr>
            <a:r>
              <a:rPr sz="1275" b="0">
                <a:solidFill>
                  <a:srgbClr val="B8DCD5"/>
                </a:solidFill>
              </a:rPr>
              <a:t>Viver a fé e participar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44E53E-E1B2-41CC-90AE-B55C6C70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099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2D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E6D68F-CE53-444C-94A8-3E89A2F8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623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0BB6F1-2DE6-4CBC-B20E-8AF24C8E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Workspace Pastoral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378B3A-6EB0-4F00-BBAA-42A18730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337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DCD5"/>
                </a:solidFill>
              </a:defRPr>
            </a:pPr>
            <a:r>
              <a:rPr sz="1275" b="0">
                <a:solidFill>
                  <a:srgbClr val="B8DCD5"/>
                </a:solidFill>
              </a:rPr>
              <a:t>Ensinar, acompanhar e cuidar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93A894-A54B-4F34-BC6E-423520AD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672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D0FC90-EFD6-431C-927E-2647FC20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196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177D07-FBD0-41F6-A656-7884FD6F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248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Gestão da Igreja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1313E2-6C8B-4449-83C4-917C8F17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5910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DCD5"/>
                </a:solidFill>
              </a:defRPr>
            </a:pPr>
            <a:r>
              <a:rPr sz="1275" b="0">
                <a:solidFill>
                  <a:srgbClr val="B8DCD5"/>
                </a:solidFill>
              </a:rPr>
              <a:t>Organizar, decidir e concluir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7E13CE-0CF7-4B55-BAFF-AE2142CF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5810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B514A"/>
          </a:solidFill>
          <a:ln xmlns:a="http://schemas.openxmlformats.org/drawingml/2006/main" w="9525">
            <a:solidFill>
              <a:srgbClr val="2A6B6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87B65A-04DC-4B4C-BA41-612236F0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520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Planejar. Servir. Celebrar. Cuidar.</a:t>
            </a:r>
          </a:p>
        </p:txBody>
      </p:sp>
      <p:sp>
        <p:nvSpPr>
          <p:cNvPr id="21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5FB33DE4-5DF4-4A3A-A466-5C008EA6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DCD5"/>
                </a:solidFill>
              </a:defRPr>
            </a:pPr>
            <a:r>
              <a:rPr sz="825" b="1">
                <a:solidFill>
                  <a:srgbClr val="B8DCD5"/>
                </a:solidFill>
              </a:rPr>
              <a:t>CULTO+  •  ECOSSISTEMA CONECTADO</a:t>
            </a:r>
          </a:p>
        </p:txBody>
      </p:sp>
      <p:sp>
        <p:nvSpPr>
          <p:cNvPr id="22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7220E95-D44D-4C6A-ABD3-7031A40A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8DCD5"/>
                </a:solidFill>
              </a:defRPr>
            </a:pPr>
            <a:r>
              <a:rPr sz="825" b="1">
                <a:solidFill>
                  <a:srgbClr val="B8DCD5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600517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2026-07-21T00:54:46.2480000Z</dcterms:created>
  <dcterms:modified xsi:type="dcterms:W3CDTF">2026-07-21T00:54:46.2480000Z</dcterms:modified>
</coreProperties>
</file>