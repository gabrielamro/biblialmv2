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a4544bb8ba4b58" /><Relationship Type="http://schemas.openxmlformats.org/officeDocument/2006/relationships/extended-properties" Target="/docProps/app.xml" Id="R96070f842b614166" /><Relationship Type="http://schemas.openxmlformats.org/officeDocument/2006/relationships/officeDocument" Target="/ppt/presentation.xml" Id="Rc978533e4b3c4c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2f0bff59de4aeb"/>
  </p:sldMasterIdLst>
  <p:notesMasterIdLst>
    <p:notesMasterId xmlns:r="http://schemas.openxmlformats.org/officeDocument/2006/relationships" r:id="Ree97d8c69ac34015"/>
  </p:notesMasterIdLst>
  <p:sldIdLst>
    <p:sldId xmlns:r="http://schemas.openxmlformats.org/officeDocument/2006/relationships" id="256" r:id="R556c89b72d8d4067"/>
    <p:sldId xmlns:r="http://schemas.openxmlformats.org/officeDocument/2006/relationships" id="257" r:id="R3cd8358f282346ac"/>
    <p:sldId xmlns:r="http://schemas.openxmlformats.org/officeDocument/2006/relationships" id="258" r:id="R91897e57ab534cb0"/>
    <p:sldId xmlns:r="http://schemas.openxmlformats.org/officeDocument/2006/relationships" id="259" r:id="R5607a1eed2d44024"/>
    <p:sldId xmlns:r="http://schemas.openxmlformats.org/officeDocument/2006/relationships" id="260" r:id="R001acaae7a894312"/>
    <p:sldId xmlns:r="http://schemas.openxmlformats.org/officeDocument/2006/relationships" id="261" r:id="Rad170dce41e94a29"/>
    <p:sldId xmlns:r="http://schemas.openxmlformats.org/officeDocument/2006/relationships" id="262" r:id="Rbd2942c315e54598"/>
    <p:sldId xmlns:r="http://schemas.openxmlformats.org/officeDocument/2006/relationships" id="263" r:id="R2c75f068ad3b485d"/>
    <p:sldId xmlns:r="http://schemas.openxmlformats.org/officeDocument/2006/relationships" id="264" r:id="Rd637a6f4e7da4c6c"/>
    <p:sldId xmlns:r="http://schemas.openxmlformats.org/officeDocument/2006/relationships" id="265" r:id="Rbc7d528493c64785"/>
    <p:sldId xmlns:r="http://schemas.openxmlformats.org/officeDocument/2006/relationships" id="266" r:id="Ra95daa2292f34d30"/>
    <p:sldId xmlns:r="http://schemas.openxmlformats.org/officeDocument/2006/relationships" id="267" r:id="Re78f32ed59944d17"/>
    <p:sldId xmlns:r="http://schemas.openxmlformats.org/officeDocument/2006/relationships" id="268" r:id="R53e053debb374db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225127df2c48f6" /><Relationship Type="http://schemas.openxmlformats.org/officeDocument/2006/relationships/slideMaster" Target="/ppt/slideMasters/slideMaster1.xml" Id="R602f0bff59de4aeb" /><Relationship Type="http://schemas.openxmlformats.org/officeDocument/2006/relationships/notesMaster" Target="/ppt/notesMasters/notesMaster1.xml" Id="Ree97d8c69ac34015" /><Relationship Type="http://schemas.openxmlformats.org/officeDocument/2006/relationships/presProps" Target="/ppt/presProps.xml" Id="R998629f3f2b34972" /><Relationship Type="http://schemas.openxmlformats.org/officeDocument/2006/relationships/tableStyles" Target="/ppt/tableStyles.xml" Id="R77c52ef68c154427" /><Relationship Type="http://schemas.openxmlformats.org/officeDocument/2006/relationships/slide" Target="/ppt/slides/slide1.xml" Id="R556c89b72d8d4067" /><Relationship Type="http://schemas.openxmlformats.org/officeDocument/2006/relationships/slide" Target="/ppt/slides/slide2.xml" Id="R3cd8358f282346ac" /><Relationship Type="http://schemas.openxmlformats.org/officeDocument/2006/relationships/slide" Target="/ppt/slides/slide3.xml" Id="R91897e57ab534cb0" /><Relationship Type="http://schemas.openxmlformats.org/officeDocument/2006/relationships/slide" Target="/ppt/slides/slide4.xml" Id="R5607a1eed2d44024" /><Relationship Type="http://schemas.openxmlformats.org/officeDocument/2006/relationships/slide" Target="/ppt/slides/slide5.xml" Id="R001acaae7a894312" /><Relationship Type="http://schemas.openxmlformats.org/officeDocument/2006/relationships/slide" Target="/ppt/slides/slide6.xml" Id="Rad170dce41e94a29" /><Relationship Type="http://schemas.openxmlformats.org/officeDocument/2006/relationships/slide" Target="/ppt/slides/slide7.xml" Id="Rbd2942c315e54598" /><Relationship Type="http://schemas.openxmlformats.org/officeDocument/2006/relationships/slide" Target="/ppt/slides/slide8.xml" Id="R2c75f068ad3b485d" /><Relationship Type="http://schemas.openxmlformats.org/officeDocument/2006/relationships/slide" Target="/ppt/slides/slide9.xml" Id="Rd637a6f4e7da4c6c" /><Relationship Type="http://schemas.openxmlformats.org/officeDocument/2006/relationships/slide" Target="/ppt/slides/slide10.xml" Id="Rbc7d528493c64785" /><Relationship Type="http://schemas.openxmlformats.org/officeDocument/2006/relationships/slide" Target="/ppt/slides/slide11.xml" Id="Ra95daa2292f34d30" /><Relationship Type="http://schemas.openxmlformats.org/officeDocument/2006/relationships/slide" Target="/ppt/slides/slide12.xml" Id="Re78f32ed59944d17" /><Relationship Type="http://schemas.openxmlformats.org/officeDocument/2006/relationships/slide" Target="/ppt/slides/slide13.xml" Id="R53e053debb374d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f0203af8984a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dd448ec50f4b75" /><Relationship Type="http://schemas.openxmlformats.org/officeDocument/2006/relationships/notesMaster" Target="/ppt/notesMasters/notesMaster1.xml" Id="Rfe027f9d449e4e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ea3eee478d40c3" /><Relationship Type="http://schemas.openxmlformats.org/officeDocument/2006/relationships/notesMaster" Target="/ppt/notesMasters/notesMaster1.xml" Id="Re166b559108c43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ce46cb9eef4bb7" /><Relationship Type="http://schemas.openxmlformats.org/officeDocument/2006/relationships/notesMaster" Target="/ppt/notesMasters/notesMaster1.xml" Id="Rc878293b988946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4f14fde08247a1" /><Relationship Type="http://schemas.openxmlformats.org/officeDocument/2006/relationships/notesMaster" Target="/ppt/notesMasters/notesMaster1.xml" Id="Rf49f660afe1848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818db3c3824f85" /><Relationship Type="http://schemas.openxmlformats.org/officeDocument/2006/relationships/notesMaster" Target="/ppt/notesMasters/notesMaster1.xml" Id="Rb9001bd2cee44c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66ca5dc6414fc4" /><Relationship Type="http://schemas.openxmlformats.org/officeDocument/2006/relationships/notesMaster" Target="/ppt/notesMasters/notesMaster1.xml" Id="R35c8fb30433242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21d72934994bb5" /><Relationship Type="http://schemas.openxmlformats.org/officeDocument/2006/relationships/notesMaster" Target="/ppt/notesMasters/notesMaster1.xml" Id="Rd94aff4024504e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68d2cf444b4e8b" /><Relationship Type="http://schemas.openxmlformats.org/officeDocument/2006/relationships/notesMaster" Target="/ppt/notesMasters/notesMaster1.xml" Id="Rd98cf7cfaf154f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0c7666951db408f" /><Relationship Type="http://schemas.openxmlformats.org/officeDocument/2006/relationships/notesMaster" Target="/ppt/notesMasters/notesMaster1.xml" Id="R4801384c79f149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31e00923304474" /><Relationship Type="http://schemas.openxmlformats.org/officeDocument/2006/relationships/notesMaster" Target="/ppt/notesMasters/notesMaster1.xml" Id="R5b8593265b9a4f9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429eac14284db7" /><Relationship Type="http://schemas.openxmlformats.org/officeDocument/2006/relationships/notesMaster" Target="/ppt/notesMasters/notesMaster1.xml" Id="R4452c18e349f42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608b6042894407b" /><Relationship Type="http://schemas.openxmlformats.org/officeDocument/2006/relationships/notesMaster" Target="/ppt/notesMasters/notesMaster1.xml" Id="R8edc3d39776c4f3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14a9297e6e64374" /><Relationship Type="http://schemas.openxmlformats.org/officeDocument/2006/relationships/notesMaster" Target="/ppt/notesMasters/notesMaster1.xml" Id="R593efcfe8d6549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03d5bc955548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19adfa8bb2493b" /><Relationship Type="http://schemas.openxmlformats.org/officeDocument/2006/relationships/slideLayout" Target="/ppt/slideLayouts/slideLayout1.xml" Id="R2e41fa81ad414b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41fa81ad414b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8c75158224771" /><Relationship Type="http://schemas.openxmlformats.org/officeDocument/2006/relationships/image" Target="/ppt/media/image.png" Id="R86b474436c5442e9" /><Relationship Type="http://schemas.openxmlformats.org/officeDocument/2006/relationships/notesSlide" Target="/ppt/notesSlides/notesSlide1.xml" Id="R044b72f0af124c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9f2853f4d405e" /><Relationship Type="http://schemas.openxmlformats.org/officeDocument/2006/relationships/notesSlide" Target="/ppt/notesSlides/notesSlide2.xml" Id="Re5872849406446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8c880690d4483" /><Relationship Type="http://schemas.openxmlformats.org/officeDocument/2006/relationships/notesSlide" Target="/ppt/notesSlides/notesSlide3.xml" Id="R80a570ff2bb446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d334a9ee54065" /><Relationship Type="http://schemas.openxmlformats.org/officeDocument/2006/relationships/notesSlide" Target="/ppt/notesSlides/notesSlide4.xml" Id="R1ee8cf4ca0a541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a0ba95b1442ba" /><Relationship Type="http://schemas.openxmlformats.org/officeDocument/2006/relationships/notesSlide" Target="/ppt/notesSlides/notesSlide5.xml" Id="R2d7b150a3c8041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7990f4aab4dfb" /><Relationship Type="http://schemas.openxmlformats.org/officeDocument/2006/relationships/notesSlide" Target="/ppt/notesSlides/notesSlide6.xml" Id="R0ad91a875c4549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595ba9da147f6" /><Relationship Type="http://schemas.openxmlformats.org/officeDocument/2006/relationships/notesSlide" Target="/ppt/notesSlides/notesSlide7.xml" Id="R2e1fea3c57b547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32b184bf84de1" /><Relationship Type="http://schemas.openxmlformats.org/officeDocument/2006/relationships/notesSlide" Target="/ppt/notesSlides/notesSlide8.xml" Id="Rd9c9b6d4d68f43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a50a9ae54d43e7" /><Relationship Type="http://schemas.openxmlformats.org/officeDocument/2006/relationships/notesSlide" Target="/ppt/notesSlides/notesSlide9.xml" Id="R3a341a7eb89b4b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1834268dc4f4b" /><Relationship Type="http://schemas.openxmlformats.org/officeDocument/2006/relationships/notesSlide" Target="/ppt/notesSlides/notesSlide10.xml" Id="R810208ef22ba40c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56aebdf41443d" /><Relationship Type="http://schemas.openxmlformats.org/officeDocument/2006/relationships/image" Target="/ppt/media/image2.png" Id="Rf32b2b6dfd8348ed" /><Relationship Type="http://schemas.openxmlformats.org/officeDocument/2006/relationships/image" Target="/ppt/media/image3.png" Id="Re787c8703ef54454" /><Relationship Type="http://schemas.openxmlformats.org/officeDocument/2006/relationships/image" Target="/ppt/media/image4.png" Id="R658295d09bbe4294" /><Relationship Type="http://schemas.openxmlformats.org/officeDocument/2006/relationships/notesSlide" Target="/ppt/notesSlides/notesSlide11.xml" Id="R2b3ec324906643b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1930bc8044a7e" /><Relationship Type="http://schemas.openxmlformats.org/officeDocument/2006/relationships/notesSlide" Target="/ppt/notesSlides/notesSlide12.xml" Id="Rd096500f33184d7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0f9625bf94e63" /><Relationship Type="http://schemas.openxmlformats.org/officeDocument/2006/relationships/image" Target="/ppt/media/image5.png" Id="R1dc07ca83a514c2c" /><Relationship Type="http://schemas.openxmlformats.org/officeDocument/2006/relationships/notesSlide" Target="/ppt/notesSlides/notesSlide13.xml" Id="R654e816e89f34c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D1E53D-D78C-4752-9418-26AE1EF7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4229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8BC85-9E63-4A9F-86BE-D5754C99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b474436c5442e9"/>
          <a:stretch xmlns:a="http://schemas.openxmlformats.org/drawingml/2006/main"/>
        </p:blipFill>
        <p:spPr>
          <a:xfrm xmlns:a="http://schemas.openxmlformats.org/drawingml/2006/main">
            <a:off x="723900" y="342900"/>
            <a:ext cx="1257300" cy="6286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28A71-A108-49CA-BBAA-06D41B6F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20764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644494-CEF6-44D0-89B5-B47A53C7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57325"/>
            <a:ext cx="1847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5E52"/>
                </a:solidFill>
              </a:defRPr>
            </a:pPr>
            <a:r>
              <a:rPr sz="975" b="1">
                <a:solidFill>
                  <a:srgbClr val="075E52"/>
                </a:solidFill>
              </a:rPr>
              <a:t>APRESENTAÇÃO DE FLUXO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D5335A7-5D8B-4806-AA46-8971E921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381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B1530"/>
                </a:solidFill>
              </a:defRPr>
            </a:pPr>
            <a:r>
              <a:rPr sz="4350" b="1">
                <a:solidFill>
                  <a:srgbClr val="0B1530"/>
                </a:solidFill>
              </a:rPr>
              <a:t>Culto do zero</a:t>
            </a:r>
          </a:p>
          <a:p xmlns:a="http://schemas.openxmlformats.org/drawingml/2006/main">
            <a:pPr algn="l">
              <a:defRPr sz="4350" b="1">
                <a:solidFill>
                  <a:srgbClr val="0B1530"/>
                </a:solidFill>
              </a:defRPr>
            </a:pPr>
            <a:r>
              <a:rPr sz="4350" b="1">
                <a:solidFill>
                  <a:srgbClr val="0B1530"/>
                </a:solidFill>
              </a:rPr>
              <a:t>ao cuidado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8D3EE-8054-440C-9216-D5F1B201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6019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878"/>
                </a:solidFill>
              </a:defRPr>
            </a:pPr>
            <a:r>
              <a:rPr sz="1800" b="0">
                <a:solidFill>
                  <a:srgbClr val="5E6878"/>
                </a:solidFill>
              </a:rPr>
              <a:t>Como o Culto+ conecta planejamento, equipes, experiência e acompanhamento em um único ciclo.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C4F3B0-C52D-408D-A558-C048E3C7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76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A6B"/>
                </a:solidFill>
              </a:defRPr>
            </a:pPr>
            <a:r>
              <a:rPr sz="1500" b="1">
                <a:solidFill>
                  <a:srgbClr val="087A6B"/>
                </a:solidFill>
              </a:rPr>
              <a:t>Toda a igreja em movimento.</a:t>
            </a:r>
          </a:p>
        </p:txBody>
      </p:sp>
      <p:sp>
        <p:nvSpPr>
          <p:cNvPr id="9" name="cover-flow-line">
            <a:extLst xmlns:a="http://schemas.openxmlformats.org/drawingml/2006/main">
              <a:ext uri="{FF2B5EF4-FFF2-40B4-BE49-F238E27FC236}">
                <a16:creationId xmlns:a16="http://schemas.microsoft.com/office/drawing/2014/main" id="{781E40DB-BD55-4F50-A7E1-9199CAA0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123950"/>
            <a:ext cx="3810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1FA758-686F-4518-8421-0630B46E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9906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3F3A"/>
          </a:solidFill>
          <a:ln xmlns:a="http://schemas.openxmlformats.org/drawingml/2006/main" w="19050">
            <a:solidFill>
              <a:srgbClr val="DDF4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B7F01A-475E-479B-BCFD-82C60CAC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085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E91F7D-CC7D-451B-B5AF-975F4894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162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FDA88F-5F42-40CF-9A63-4560BA5E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1239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Planejar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04F534-9A8F-4025-99D6-3797AEE4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812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3F3A"/>
          </a:solidFill>
          <a:ln xmlns:a="http://schemas.openxmlformats.org/drawingml/2006/main" w="19050">
            <a:solidFill>
              <a:srgbClr val="DDF4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EE8266-BBD8-4FE8-B340-CE6740A9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764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05C24F-84D7-42E2-B954-1E480E60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52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EBA7E1-C0BE-4DBE-BC85-C7773E6C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1145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Preparar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C93BAB-EB91-4971-BC3D-8A6A4783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718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3F3A"/>
          </a:solidFill>
          <a:ln xmlns:a="http://schemas.openxmlformats.org/drawingml/2006/main" w="19050">
            <a:solidFill>
              <a:srgbClr val="DDF4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68C69D-08F0-4D3C-A76E-83A6A9C0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670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1C0D36-68EA-4D4C-A491-1C863327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43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9C0ACF-CD67-45BA-959A-7935CE56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1051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Escalar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1FADE4-160A-47CE-B068-EBC5DC31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9624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3F3A"/>
          </a:solidFill>
          <a:ln xmlns:a="http://schemas.openxmlformats.org/drawingml/2006/main" w="19050">
            <a:solidFill>
              <a:srgbClr val="DDF4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3D6511-EE7D-46D4-A39C-9E994ED8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57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A996CF-288D-4465-81A3-D6F6BE73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133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38956C-0900-47CB-9B72-BA8D5A76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0957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Celebrar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CD192C-713F-42E7-A30F-2022AB63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9530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3F3A"/>
          </a:solidFill>
          <a:ln xmlns:a="http://schemas.openxmlformats.org/drawingml/2006/main" w="19050">
            <a:solidFill>
              <a:srgbClr val="DDF4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E8F253-AB14-4E40-83FB-6C3DFC17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048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7A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7BAD68-C117-4968-9565-71152E68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124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D8E6B1-C76A-4E03-81D4-68581690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0863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Cuidar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E9388D-1219-4220-93B3-28D090EB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01980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8DCD5"/>
                </a:solidFill>
              </a:defRPr>
            </a:pPr>
            <a:r>
              <a:rPr sz="975" b="1">
                <a:solidFill>
                  <a:srgbClr val="B8DCD5"/>
                </a:solidFill>
              </a:rPr>
              <a:t>CULTO+</a:t>
            </a:r>
          </a:p>
        </p:txBody>
      </p:sp>
    </p:spTree>
    <p:extLst>
      <p:ext uri="{BB962C8B-B14F-4D97-AF65-F5344CB8AC3E}">
        <p14:creationId xmlns:p14="http://schemas.microsoft.com/office/powerpoint/2010/main" val="17261983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eyebrow-Visão geral">
            <a:extLst xmlns:a="http://schemas.openxmlformats.org/drawingml/2006/main">
              <a:ext uri="{FF2B5EF4-FFF2-40B4-BE49-F238E27FC236}">
                <a16:creationId xmlns:a16="http://schemas.microsoft.com/office/drawing/2014/main" id="{6DE8E2C8-B970-4DE5-B0D9-F00D18F9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6B"/>
                </a:solidFill>
              </a:defRPr>
            </a:pPr>
            <a:r>
              <a:rPr sz="900" b="1">
                <a:solidFill>
                  <a:srgbClr val="087A6B"/>
                </a:solidFill>
              </a:rPr>
              <a:t>VISÃO GERAL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E31BFC-014B-4EF2-ACB1-E35D46C1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530"/>
                </a:solidFill>
              </a:defRPr>
            </a:pPr>
            <a:r>
              <a:rPr sz="2850" b="1">
                <a:solidFill>
                  <a:srgbClr val="0B1530"/>
                </a:solidFill>
              </a:rPr>
              <a:t>Um culto é um ciclo — não um evento isolado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519518-438A-48CF-9D92-87C9861F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8"/>
                </a:solidFill>
              </a:defRPr>
            </a:pPr>
            <a:r>
              <a:rPr sz="1500" b="0">
                <a:solidFill>
                  <a:srgbClr val="5E6878"/>
                </a:solidFill>
              </a:rPr>
              <a:t>O valor aparece quando cada etapa prepara a próxima e deixa claro quem precisa agir.</a:t>
            </a:r>
          </a:p>
        </p:txBody>
      </p:sp>
      <p:sp>
        <p:nvSpPr>
          <p:cNvPr id="4" name="lifecycle-connector">
            <a:extLst xmlns:a="http://schemas.openxmlformats.org/drawingml/2006/main">
              <a:ext uri="{FF2B5EF4-FFF2-40B4-BE49-F238E27FC236}">
                <a16:creationId xmlns:a16="http://schemas.microsoft.com/office/drawing/2014/main" id="{CBD7576F-E26B-42B9-B816-744EAA9F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9925"/>
            <a:ext cx="9791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9979B-0CFE-4C3C-8E1E-62068D5A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AF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16013-A7CF-4AD3-BBAD-08FE50DF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B1F9F0-15D2-4864-AC06-E02BD1FF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242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33BAE-C014-45C4-8BA2-B7224D27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530"/>
                </a:solidFill>
              </a:defRPr>
            </a:pPr>
            <a:r>
              <a:rPr sz="1500" b="1">
                <a:solidFill>
                  <a:srgbClr val="0B1530"/>
                </a:solidFill>
              </a:rPr>
              <a:t>Definir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3CEEAA-29F4-4264-867B-037F4C48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24350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Data, propósito</a:t>
            </a:r>
          </a:p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e formato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B59D80-D69B-47D8-AB93-9DD57DE5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781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AF1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0EF7FD-377E-4C40-BC0D-90102D26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52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DC489F-9DF6-4FAD-A309-1C2F9532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242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C9D879-EC18-4F6D-9B94-AC2B12CF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9433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530"/>
                </a:solidFill>
              </a:defRPr>
            </a:pPr>
            <a:r>
              <a:rPr sz="1500" b="1">
                <a:solidFill>
                  <a:srgbClr val="0B1530"/>
                </a:solidFill>
              </a:rPr>
              <a:t>Preparar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05C882-DA82-4EAC-9A3E-4A5D4573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24350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Conteúdo, liturgia</a:t>
            </a:r>
          </a:p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e acesso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97EC3E-812E-4930-8E75-26D1CC6C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81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221CCE-080F-4161-8670-7387D51A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52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C114F6-F2E6-44B5-9971-CFC6EFE4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242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D38E71-9A64-41E4-BB2B-53445E16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530"/>
                </a:solidFill>
              </a:defRPr>
            </a:pPr>
            <a:r>
              <a:rPr sz="1500" b="1">
                <a:solidFill>
                  <a:srgbClr val="0B1530"/>
                </a:solidFill>
              </a:rPr>
              <a:t>Organizar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D99A45-7865-441A-B47A-2444B39D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24350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Equipes, funções</a:t>
            </a:r>
          </a:p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e responsáveis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CDD1C5-29B2-434B-BC3F-9B309179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81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4EC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2BB368-226F-4BED-976C-65C3638E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52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475141-04E6-4883-9D01-9EE90887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242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C50056-F989-40AF-9F42-7F0C9742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433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530"/>
                </a:solidFill>
              </a:defRPr>
            </a:pPr>
            <a:r>
              <a:rPr sz="1500" b="1">
                <a:solidFill>
                  <a:srgbClr val="0B1530"/>
                </a:solidFill>
              </a:rPr>
              <a:t>Confirmar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4A539C-9BC4-4DED-9D7B-4F330409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24350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Convites, respostas</a:t>
            </a:r>
          </a:p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e aprovações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36F85C-56A8-485A-96CC-7B116F66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81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8FA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F9A32D-B711-4234-991F-B83670C7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52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7A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08264C-CBFF-4144-BE96-E5362AB4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242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26875A-D4CA-4D94-AD27-322688A5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433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530"/>
                </a:solidFill>
              </a:defRPr>
            </a:pPr>
            <a:r>
              <a:rPr sz="1500" b="1">
                <a:solidFill>
                  <a:srgbClr val="0B1530"/>
                </a:solidFill>
              </a:rPr>
              <a:t>Celebrar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3371FD-8C25-43DA-A8AB-D730F399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24350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Operação e</a:t>
            </a:r>
          </a:p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experiência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F3E0B0-E12E-42E9-97B4-73B94099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781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DF5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F671E1-AE81-4072-9CA1-F853398D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952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5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C2D5D6-DD51-472D-B264-1D329661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242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0EEC86-016D-468A-AE7C-9B3CD911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9433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530"/>
                </a:solidFill>
              </a:defRPr>
            </a:pPr>
            <a:r>
              <a:rPr sz="1500" b="1">
                <a:solidFill>
                  <a:srgbClr val="0B1530"/>
                </a:solidFill>
              </a:rPr>
              <a:t>Acompanhar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2FFD39-6F74-4C30-9CF0-443678B5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24350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Presença, retorno</a:t>
            </a:r>
          </a:p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e cuidado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EF9661-D188-47A0-938F-6E3DC58D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372100"/>
            <a:ext cx="82677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63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643E0C-BB4C-4AD6-AE5B-95378EA1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543550"/>
            <a:ext cx="765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 fluxo termina quando o culto gera contexto para o próximo cuidado.</a:t>
            </a:r>
          </a:p>
        </p:txBody>
      </p:sp>
      <p:sp>
        <p:nvSpPr>
          <p:cNvPr id="37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D09C4018-5094-4AB7-8AF8-34CDF691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CULTO+  •  FLUXO DO CULTO</a:t>
            </a:r>
          </a:p>
        </p:txBody>
      </p:sp>
      <p:sp>
        <p:nvSpPr>
          <p:cNvPr id="3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65DA3B9-B2BC-4A5A-895C-68229FBE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439870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27D98F-515C-4102-815F-9324E61C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4648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Etapa 1 • Planejar">
            <a:extLst xmlns:a="http://schemas.openxmlformats.org/drawingml/2006/main">
              <a:ext uri="{FF2B5EF4-FFF2-40B4-BE49-F238E27FC236}">
                <a16:creationId xmlns:a16="http://schemas.microsoft.com/office/drawing/2014/main" id="{4A289C1A-FD00-404F-A32B-7BC2B0B0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6B"/>
                </a:solidFill>
              </a:defRPr>
            </a:pPr>
            <a:r>
              <a:rPr sz="900" b="1">
                <a:solidFill>
                  <a:srgbClr val="087A6B"/>
                </a:solidFill>
              </a:rPr>
              <a:t>ETAPA 1 • PLANEJAR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5E0C719-A074-49BF-B45A-A330B0B7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19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530"/>
                </a:solidFill>
              </a:defRPr>
            </a:pPr>
            <a:r>
              <a:rPr sz="3150" b="1">
                <a:solidFill>
                  <a:srgbClr val="0B1530"/>
                </a:solidFill>
              </a:rPr>
              <a:t>Tudo começa com um culto bem definido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D4E53-9169-4DA8-8484-5E6BDF58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600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878"/>
                </a:solidFill>
              </a:defRPr>
            </a:pPr>
            <a:r>
              <a:rPr sz="1650" b="0">
                <a:solidFill>
                  <a:srgbClr val="5E6878"/>
                </a:solidFill>
              </a:rPr>
              <a:t>Criar o culto é registrar contexto suficiente para pessoas, equipes e público avançarem sem adivinhação.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D640F-5F10-4AFD-8E9D-43000C2C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343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0" b="1">
                <a:solidFill>
                  <a:srgbClr val="E8E2F6"/>
                </a:solidFill>
              </a:defRPr>
            </a:pPr>
            <a:r>
              <a:rPr sz="8400" b="1">
                <a:solidFill>
                  <a:srgbClr val="E8E2F6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7F1E4C-2AB2-4F0D-92A3-32F81A85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52800"/>
            <a:ext cx="4514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530"/>
                </a:solidFill>
              </a:defRPr>
            </a:pPr>
            <a:r>
              <a:rPr sz="2100" b="1">
                <a:solidFill>
                  <a:srgbClr val="0B1530"/>
                </a:solidFill>
              </a:rPr>
              <a:t>A data abre o calendário.</a:t>
            </a:r>
          </a:p>
          <a:p xmlns:a="http://schemas.openxmlformats.org/drawingml/2006/main">
            <a:pPr algn="l">
              <a:defRPr sz="2100" b="1">
                <a:solidFill>
                  <a:srgbClr val="0B1530"/>
                </a:solidFill>
              </a:defRPr>
            </a:pPr>
            <a:r>
              <a:rPr sz="2100" b="1">
                <a:solidFill>
                  <a:srgbClr val="0B1530"/>
                </a:solidFill>
              </a:rPr>
              <a:t>O propósito orienta as decisões.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256FF3-15DA-403F-A54B-57C16224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30670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E760BA-77B2-4B8B-8CD8-59BFC678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14925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5E52"/>
                </a:solidFill>
              </a:defRPr>
            </a:pPr>
            <a:r>
              <a:rPr sz="975" b="1">
                <a:solidFill>
                  <a:srgbClr val="075E52"/>
                </a:solidFill>
              </a:rPr>
              <a:t>RESULTADO: UM CULTO PUBLICÁVEL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087690-1495-4654-B853-319B7498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048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Contexto mínimo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5625FA-1CEB-44FF-BBA6-A7069EC3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257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DE9347-FAF5-4F65-ACDA-4BA683E2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3716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ABB1D0-6240-42C5-84BA-A6A07CF9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2382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Identidade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EFD394-9698-4FAD-9BD4-62566FC3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514475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DCD5"/>
                </a:solidFill>
              </a:defRPr>
            </a:pPr>
            <a:r>
              <a:rPr sz="1200" b="0">
                <a:solidFill>
                  <a:srgbClr val="B8DCD5"/>
                </a:solidFill>
              </a:rPr>
              <a:t>Nome, tema e propósito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592591-AAAE-4C20-9559-8E08BF1D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01E23F-352E-491F-BF62-A3E921E9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479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90219C-4446-448F-85E1-DF068611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145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Quando e onde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4BC283-AF50-4A35-BDBA-6C7A8262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90775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DCD5"/>
                </a:solidFill>
              </a:defRPr>
            </a:pPr>
            <a:r>
              <a:rPr sz="1200" b="0">
                <a:solidFill>
                  <a:srgbClr val="B8DCD5"/>
                </a:solidFill>
              </a:rPr>
              <a:t>Data, horário, local e formato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FFCBD0-3316-46F9-A30D-1801A74C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09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8F6808-EE3A-4C91-9943-EBFBB76E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242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97358E-B0F1-47F1-A724-8FF6EA6B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90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Conteúdo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5F47A1-0FF1-4D94-8B74-0C2A0608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67075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DCD5"/>
                </a:solidFill>
              </a:defRPr>
            </a:pPr>
            <a:r>
              <a:rPr sz="1200" b="0">
                <a:solidFill>
                  <a:srgbClr val="B8DCD5"/>
                </a:solidFill>
              </a:rPr>
              <a:t>Liturgia, texto-base e momentos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CE167F-0903-45D3-800E-7BF685D5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86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7A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F451D4-EF26-4E70-B2F7-34D66C42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005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78559D-5BD3-49CF-9F46-C57AC755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671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Acesso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E67AE0-A732-4901-B912-6799125A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43375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DCD5"/>
                </a:solidFill>
              </a:defRPr>
            </a:pPr>
            <a:r>
              <a:rPr sz="1200" b="0">
                <a:solidFill>
                  <a:srgbClr val="B8DCD5"/>
                </a:solidFill>
              </a:rPr>
              <a:t>Link online, QR Code e publicação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8CA50C-55EA-4A99-90EE-26758DD8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62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5F79C5-634C-4FF9-9122-76FF88BD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768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34E59C-3823-4733-B513-D374F9DB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434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Responsável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459CAF-0347-452A-8D1F-AD885A3C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019675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DCD5"/>
                </a:solidFill>
              </a:defRPr>
            </a:pPr>
            <a:r>
              <a:rPr sz="1200" b="0">
                <a:solidFill>
                  <a:srgbClr val="B8DCD5"/>
                </a:solidFill>
              </a:rPr>
              <a:t>Quem decide e acompanha</a:t>
            </a:r>
          </a:p>
        </p:txBody>
      </p:sp>
      <p:sp>
        <p:nvSpPr>
          <p:cNvPr id="30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A9C904E3-FD87-431D-97C0-0ED70DA6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DCD5"/>
                </a:solidFill>
              </a:defRPr>
            </a:pPr>
            <a:r>
              <a:rPr sz="825" b="1">
                <a:solidFill>
                  <a:srgbClr val="B8DCD5"/>
                </a:solidFill>
              </a:rPr>
              <a:t>CULTO+  •  FLUXO DO CULTO</a:t>
            </a:r>
          </a:p>
        </p:txBody>
      </p:sp>
      <p:sp>
        <p:nvSpPr>
          <p:cNvPr id="3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80A5CC7-66CA-4323-AC13-4E1418DB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8DCD5"/>
                </a:solidFill>
              </a:defRPr>
            </a:pPr>
            <a:r>
              <a:rPr sz="825" b="1">
                <a:solidFill>
                  <a:srgbClr val="B8DCD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276636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-Etapa 2 • Organizar">
            <a:extLst xmlns:a="http://schemas.openxmlformats.org/drawingml/2006/main">
              <a:ext uri="{FF2B5EF4-FFF2-40B4-BE49-F238E27FC236}">
                <a16:creationId xmlns:a16="http://schemas.microsoft.com/office/drawing/2014/main" id="{6EA1B5A9-8AC3-4E82-8D7B-3E057D5B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6B"/>
                </a:solidFill>
              </a:defRPr>
            </a:pPr>
            <a:r>
              <a:rPr sz="900" b="1">
                <a:solidFill>
                  <a:srgbClr val="087A6B"/>
                </a:solidFill>
              </a:rPr>
              <a:t>ETAPA 2 • ORGANIZAR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A1EC39-1AA8-4042-AFB8-DB734718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530"/>
                </a:solidFill>
              </a:defRPr>
            </a:pPr>
            <a:r>
              <a:rPr sz="3000" b="1">
                <a:solidFill>
                  <a:srgbClr val="0B1530"/>
                </a:solidFill>
              </a:rPr>
              <a:t>Equipe cadastrada não significa voluntário escalado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D7250-5520-482B-A122-A6AF6501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8"/>
                </a:solidFill>
              </a:defRPr>
            </a:pPr>
            <a:r>
              <a:rPr sz="1500" b="0">
                <a:solidFill>
                  <a:srgbClr val="5E6878"/>
                </a:solidFill>
              </a:rPr>
              <a:t>Separar estrutura permanente de participação no culto evita mensagens falsas de conclusão.</a:t>
            </a:r>
          </a:p>
        </p:txBody>
      </p:sp>
      <p:sp>
        <p:nvSpPr>
          <p:cNvPr id="4" name="comparison-divider">
            <a:extLst xmlns:a="http://schemas.openxmlformats.org/drawingml/2006/main">
              <a:ext uri="{FF2B5EF4-FFF2-40B4-BE49-F238E27FC236}">
                <a16:creationId xmlns:a16="http://schemas.microsoft.com/office/drawing/2014/main" id="{7F416E92-410F-4D31-ADA5-975B53FC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09800"/>
            <a:ext cx="381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06550-1C19-4FA5-B8E1-8F98618E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481965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1EAFF"/>
          </a:solidFill>
          <a:ln xmlns:a="http://schemas.openxmlformats.org/drawingml/2006/main" w="9525">
            <a:solidFill>
              <a:srgbClr val="E2D5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0A396-EC66-4B37-8964-314B48C3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33600"/>
            <a:ext cx="481965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0FBF7"/>
          </a:solidFill>
          <a:ln xmlns:a="http://schemas.openxmlformats.org/drawingml/2006/main" w="9525">
            <a:solidFill>
              <a:srgbClr val="CDEB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8EAB9-2A97-4B4D-A96B-CA67CF25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9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EF7F5A-06FC-45C0-BBCD-4399E0B2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050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590985-0D4E-4636-8A40-DB62BF5C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193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530"/>
                </a:solidFill>
              </a:defRPr>
            </a:pPr>
            <a:r>
              <a:rPr sz="2250" b="1">
                <a:solidFill>
                  <a:srgbClr val="0B1530"/>
                </a:solidFill>
              </a:rPr>
              <a:t>Equipe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896205-252F-42D8-8E69-7E41A991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00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28D9"/>
                </a:solidFill>
              </a:defRPr>
            </a:pPr>
            <a:r>
              <a:rPr sz="1350" b="1">
                <a:solidFill>
                  <a:srgbClr val="6D28D9"/>
                </a:solidFill>
              </a:rPr>
              <a:t>Estrutura que permanece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310743-E9E6-42A0-BAC0-5EC0E474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71850"/>
            <a:ext cx="37719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878"/>
                </a:solidFill>
              </a:defRPr>
            </a:pPr>
            <a:r>
              <a:rPr sz="1575" b="0">
                <a:solidFill>
                  <a:srgbClr val="5E6878"/>
                </a:solidFill>
              </a:rPr>
              <a:t>• Nome e propósito do time</a:t>
            </a:r>
          </a:p>
          <a:p xmlns:a="http://schemas.openxmlformats.org/drawingml/2006/main">
            <a:pPr algn="l">
              <a:defRPr sz="1575" b="0">
                <a:solidFill>
                  <a:srgbClr val="5E6878"/>
                </a:solidFill>
              </a:defRPr>
            </a:pPr>
            <a:r>
              <a:rPr sz="1575" b="0">
                <a:solidFill>
                  <a:srgbClr val="5E6878"/>
                </a:solidFill>
              </a:rPr>
              <a:t>• Funções disponíveis</a:t>
            </a:r>
          </a:p>
          <a:p xmlns:a="http://schemas.openxmlformats.org/drawingml/2006/main">
            <a:pPr algn="l">
              <a:defRPr sz="1575" b="0">
                <a:solidFill>
                  <a:srgbClr val="5E6878"/>
                </a:solidFill>
              </a:defRPr>
            </a:pPr>
            <a:r>
              <a:rPr sz="1575" b="0">
                <a:solidFill>
                  <a:srgbClr val="5E6878"/>
                </a:solidFill>
              </a:rPr>
              <a:t>• Líder principal</a:t>
            </a:r>
          </a:p>
          <a:p xmlns:a="http://schemas.openxmlformats.org/drawingml/2006/main">
            <a:pPr algn="l">
              <a:defRPr sz="1575" b="0">
                <a:solidFill>
                  <a:srgbClr val="5E6878"/>
                </a:solidFill>
              </a:defRPr>
            </a:pPr>
            <a:r>
              <a:rPr sz="1575" b="0">
                <a:solidFill>
                  <a:srgbClr val="5E6878"/>
                </a:solidFill>
              </a:rPr>
              <a:t>• Pessoas vinculadas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60555E-EBE7-4051-9117-B5E31B89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9650"/>
            <a:ext cx="20764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8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8F55D2-C758-4260-BD5F-D6B58B38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86325"/>
            <a:ext cx="1847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EXISTE ENTRE CULTOS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E10D5C-CBD1-4203-8479-971F74B2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19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F7B519-BF41-4F11-BE98-A0594D81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050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B5D89B-F740-4BEF-8E86-F624954A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193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530"/>
                </a:solidFill>
              </a:defRPr>
            </a:pPr>
            <a:r>
              <a:rPr sz="2250" b="1">
                <a:solidFill>
                  <a:srgbClr val="0B1530"/>
                </a:solidFill>
              </a:rPr>
              <a:t>Escala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5197B9-7512-4B2C-92FF-3F231EC4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00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A6B"/>
                </a:solidFill>
              </a:defRPr>
            </a:pPr>
            <a:r>
              <a:rPr sz="1350" b="1">
                <a:solidFill>
                  <a:srgbClr val="087A6B"/>
                </a:solidFill>
              </a:rPr>
              <a:t>Participação em uma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E120F5-21D9-47D3-82DF-2070F524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71850"/>
            <a:ext cx="37719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878"/>
                </a:solidFill>
              </a:defRPr>
            </a:pPr>
            <a:r>
              <a:rPr sz="1575" b="0">
                <a:solidFill>
                  <a:srgbClr val="5E6878"/>
                </a:solidFill>
              </a:rPr>
              <a:t>• Culto específico</a:t>
            </a:r>
          </a:p>
          <a:p xmlns:a="http://schemas.openxmlformats.org/drawingml/2006/main">
            <a:pPr algn="l">
              <a:defRPr sz="1575" b="0">
                <a:solidFill>
                  <a:srgbClr val="5E6878"/>
                </a:solidFill>
              </a:defRPr>
            </a:pPr>
            <a:r>
              <a:rPr sz="1575" b="0">
                <a:solidFill>
                  <a:srgbClr val="5E6878"/>
                </a:solidFill>
              </a:rPr>
              <a:t>• Função naquele culto</a:t>
            </a:r>
          </a:p>
          <a:p xmlns:a="http://schemas.openxmlformats.org/drawingml/2006/main">
            <a:pPr algn="l">
              <a:defRPr sz="1575" b="0">
                <a:solidFill>
                  <a:srgbClr val="5E6878"/>
                </a:solidFill>
              </a:defRPr>
            </a:pPr>
            <a:r>
              <a:rPr sz="1575" b="0">
                <a:solidFill>
                  <a:srgbClr val="5E6878"/>
                </a:solidFill>
              </a:rPr>
              <a:t>• Convite e confirmação</a:t>
            </a:r>
          </a:p>
          <a:p xmlns:a="http://schemas.openxmlformats.org/drawingml/2006/main">
            <a:pPr algn="l">
              <a:defRPr sz="1575" b="0">
                <a:solidFill>
                  <a:srgbClr val="5E6878"/>
                </a:solidFill>
              </a:defRPr>
            </a:pPr>
            <a:r>
              <a:rPr sz="1575" b="0">
                <a:solidFill>
                  <a:srgbClr val="5E6878"/>
                </a:solidFill>
              </a:rPr>
              <a:t>• Status operacional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23D478-E2E1-47DC-8C5B-6C2D9A5F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19650"/>
            <a:ext cx="21526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3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1EF857-B6AF-4BB1-B295-F506B9B8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86325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5E52"/>
                </a:solidFill>
              </a:defRPr>
            </a:pPr>
            <a:r>
              <a:rPr sz="975" b="1">
                <a:solidFill>
                  <a:srgbClr val="075E52"/>
                </a:solidFill>
              </a:rPr>
              <a:t>PRECISA DE RESPOSTA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CAF096-411A-4B65-8708-DE68363F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33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9E4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BA238E-54A1-4486-8884-C70016CD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76625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7A6B"/>
                </a:solidFill>
              </a:defRPr>
            </a:pPr>
            <a:r>
              <a:rPr sz="2250" b="1">
                <a:solidFill>
                  <a:srgbClr val="087A6B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18294A-7F6E-4E5E-8323-9F27769C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810250"/>
            <a:ext cx="84963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5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44E01D-FF5F-44F8-8520-3173BC14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962650"/>
            <a:ext cx="788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Time vazio: o próximo passo é convidar ou escalar pessoas — não aprovar a escala.</a:t>
            </a:r>
          </a:p>
        </p:txBody>
      </p:sp>
      <p:sp>
        <p:nvSpPr>
          <p:cNvPr id="25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ECC09DDE-3506-4645-AE1C-C181042B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CULTO+  •  FLUXO DO CULTO</a:t>
            </a:r>
          </a:p>
        </p:txBody>
      </p:sp>
      <p:sp>
        <p:nvSpPr>
          <p:cNvPr id="2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B2596EE-306D-4691-AF3A-DC3212BB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131215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eyebrow-Etapa 3 • Convidar e decidir">
            <a:extLst xmlns:a="http://schemas.openxmlformats.org/drawingml/2006/main">
              <a:ext uri="{FF2B5EF4-FFF2-40B4-BE49-F238E27FC236}">
                <a16:creationId xmlns:a16="http://schemas.microsoft.com/office/drawing/2014/main" id="{4ECFA6D1-90BF-48ED-8A3D-3FD53F18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6B"/>
                </a:solidFill>
              </a:defRPr>
            </a:pPr>
            <a:r>
              <a:rPr sz="900" b="1">
                <a:solidFill>
                  <a:srgbClr val="087A6B"/>
                </a:solidFill>
              </a:rPr>
              <a:t>ETAPA 3 • CONVIDAR E DECIDIR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8BFCFD-A4A5-48AD-B498-C81D45C6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530"/>
                </a:solidFill>
              </a:defRPr>
            </a:pPr>
            <a:r>
              <a:rPr sz="3000" b="1">
                <a:solidFill>
                  <a:srgbClr val="0B1530"/>
                </a:solidFill>
              </a:rPr>
              <a:t>Convite vira serviço quando alguém responde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9F4CBD-47C4-4D4D-9C5A-872DA63C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8"/>
                </a:solidFill>
              </a:defRPr>
            </a:pPr>
            <a:r>
              <a:rPr sz="1500" b="0">
                <a:solidFill>
                  <a:srgbClr val="5E6878"/>
                </a:solidFill>
              </a:rPr>
              <a:t>O Culto+ distingue interesse, vínculo com a igreja, entrada na equipe e confirmação da escala.</a:t>
            </a:r>
          </a:p>
        </p:txBody>
      </p:sp>
      <p:sp>
        <p:nvSpPr>
          <p:cNvPr id="4" name="invite-flow-connector">
            <a:extLst xmlns:a="http://schemas.openxmlformats.org/drawingml/2006/main">
              <a:ext uri="{FF2B5EF4-FFF2-40B4-BE49-F238E27FC236}">
                <a16:creationId xmlns:a16="http://schemas.microsoft.com/office/drawing/2014/main" id="{A293BB7D-9913-4174-9E7E-49C340B7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00400"/>
            <a:ext cx="9791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jection-branch-connector">
            <a:extLst xmlns:a="http://schemas.openxmlformats.org/drawingml/2006/main">
              <a:ext uri="{FF2B5EF4-FFF2-40B4-BE49-F238E27FC236}">
                <a16:creationId xmlns:a16="http://schemas.microsoft.com/office/drawing/2014/main" id="{E2A0CFCD-1161-4FF8-AE8D-6CB67AC0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695700"/>
            <a:ext cx="285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1CBB23-E664-4F9B-8868-EE641736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AF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D6693D-103B-431B-B7E7-D952B558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F2F9D9-6D47-425F-A1C7-43B8CF88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575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239E54-224A-4620-B8E6-8FFDF181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530"/>
                </a:solidFill>
              </a:defRPr>
            </a:pPr>
            <a:r>
              <a:rPr sz="1500" b="1">
                <a:solidFill>
                  <a:srgbClr val="0B1530"/>
                </a:solidFill>
              </a:rPr>
              <a:t>Convite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9ECFF1-FE8E-42B6-99DE-473DDBB6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0530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QR Code ou</a:t>
            </a:r>
          </a:p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busca de usuário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94205A-ECFF-489F-9C43-0E50E6E6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72415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AF1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1A6BCF-6AD0-4EF8-BA16-9B5739B9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71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6C6103-2381-4E27-964E-D615ABC2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575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2BA038-5903-4D4A-9E25-5ADBD659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9624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530"/>
                </a:solidFill>
              </a:defRPr>
            </a:pPr>
            <a:r>
              <a:rPr sz="1500" b="1">
                <a:solidFill>
                  <a:srgbClr val="0B1530"/>
                </a:solidFill>
              </a:rPr>
              <a:t>Candidatura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A0126B-D983-4C2D-A213-68704980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30530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Usuário envia</a:t>
            </a:r>
          </a:p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seu interesse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EB640B-4132-400E-A50E-38A17C14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2415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05749E-804A-4A2D-BFDA-05EEEAA6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71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7D5E6A-7D89-4A01-86C2-4E3A44CA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575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19B16D-ED71-4049-B37E-3B198EC7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624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530"/>
                </a:solidFill>
              </a:defRPr>
            </a:pPr>
            <a:r>
              <a:rPr sz="1500" b="1">
                <a:solidFill>
                  <a:srgbClr val="0B1530"/>
                </a:solidFill>
              </a:rPr>
              <a:t>Vínculo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1998C0-7CF3-4F8B-A4FD-B189835D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30530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Precisa ser membro</a:t>
            </a:r>
          </a:p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da igreja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2E468F-4CC4-4F01-B20A-0693B244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2415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4EC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B1EEFB-7E30-414C-87BB-745E3F45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71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E0DE69-2C0D-400D-97D2-0EBCF2AB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575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BBDCB7-525D-4E1C-A2BF-B02C6391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530"/>
                </a:solidFill>
              </a:defRPr>
            </a:pPr>
            <a:r>
              <a:rPr sz="1500" b="1">
                <a:solidFill>
                  <a:srgbClr val="0B1530"/>
                </a:solidFill>
              </a:rPr>
              <a:t>Decisão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8AF80B-8A2E-4337-9395-47FD82ED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0530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Líder aprova</a:t>
            </a:r>
          </a:p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ou recusa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F5F32A-883E-4741-9037-08A11BAE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8FA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B85FD4-541D-49BE-A351-E0C68F15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71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7A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761509-6118-4143-A148-5A5DF4B7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575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91986C-6014-440A-A3FC-085905E3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624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530"/>
                </a:solidFill>
              </a:defRPr>
            </a:pPr>
            <a:r>
              <a:rPr sz="1500" b="1">
                <a:solidFill>
                  <a:srgbClr val="0B1530"/>
                </a:solidFill>
              </a:rPr>
              <a:t>Equipe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C8A531-95F1-4A50-8B78-D22B83C4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0530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Função e liderança</a:t>
            </a:r>
          </a:p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são definidas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C83DB5-761D-4979-A849-ED94AB1A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72415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DF5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7DAC83-5D19-4D27-9CE5-326FA9E4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71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5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F86252-6540-44E4-B602-A52B7E1B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575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D3468D-EBDD-4142-873E-73F0AE89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9624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530"/>
                </a:solidFill>
              </a:defRPr>
            </a:pPr>
            <a:r>
              <a:rPr sz="1500" b="1">
                <a:solidFill>
                  <a:srgbClr val="0B1530"/>
                </a:solidFill>
              </a:rPr>
              <a:t>Escala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8B8730-3B3A-4F98-949E-29F03BC7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30530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Convite do culto</a:t>
            </a:r>
          </a:p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aguarda resposta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C51454-A074-400D-9964-8B5EE6AC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16255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DEAF1"/>
          </a:solidFill>
          <a:ln xmlns:a="http://schemas.openxmlformats.org/drawingml/2006/main" w="9525">
            <a:solidFill>
              <a:srgbClr val="F6C8D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11B5C9-3A6F-416D-B6F5-6824B344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276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2D6F"/>
                </a:solidFill>
              </a:defRPr>
            </a:pPr>
            <a:r>
              <a:rPr sz="1200" b="1">
                <a:solidFill>
                  <a:srgbClr val="D92D6F"/>
                </a:solidFill>
              </a:rPr>
              <a:t>Se for recusado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7E5D1D-7909-4C83-8854-8D0D0D7F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52450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878"/>
                </a:solidFill>
              </a:defRPr>
            </a:pPr>
            <a:r>
              <a:rPr sz="1125" b="0">
                <a:solidFill>
                  <a:srgbClr val="5E6878"/>
                </a:solidFill>
              </a:rPr>
              <a:t>recebe retorno e pode solicitar novamente</a:t>
            </a:r>
          </a:p>
        </p:txBody>
      </p:sp>
      <p:sp>
        <p:nvSpPr>
          <p:cNvPr id="39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3193B582-92D0-4B53-87A6-16004B31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CULTO+  •  FLUXO DO CULTO</a:t>
            </a:r>
          </a:p>
        </p:txBody>
      </p:sp>
      <p:sp>
        <p:nvSpPr>
          <p:cNvPr id="4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F608647-96B0-4746-8AD7-27FF4B54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742582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-Etapa 4 • Corrigir">
            <a:extLst xmlns:a="http://schemas.openxmlformats.org/drawingml/2006/main">
              <a:ext uri="{FF2B5EF4-FFF2-40B4-BE49-F238E27FC236}">
                <a16:creationId xmlns:a16="http://schemas.microsoft.com/office/drawing/2014/main" id="{F6148ECD-EBDE-4BBC-BB5D-786401DB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6B"/>
                </a:solidFill>
              </a:defRPr>
            </a:pPr>
            <a:r>
              <a:rPr sz="900" b="1">
                <a:solidFill>
                  <a:srgbClr val="087A6B"/>
                </a:solidFill>
              </a:rPr>
              <a:t>ETAPA 4 • CORRIGIR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6A0FF7-41EA-444B-9C26-5A2418CC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530"/>
                </a:solidFill>
              </a:defRPr>
            </a:pPr>
            <a:r>
              <a:rPr sz="2925" b="1">
                <a:solidFill>
                  <a:srgbClr val="0B1530"/>
                </a:solidFill>
              </a:rPr>
              <a:t>O status deve dizer o que falta — e abrir a correção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93F2A8-FB59-4BFC-85B7-7260909F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8"/>
                </a:solidFill>
              </a:defRPr>
            </a:pPr>
            <a:r>
              <a:rPr sz="1500" b="0">
                <a:solidFill>
                  <a:srgbClr val="5E6878"/>
                </a:solidFill>
              </a:rPr>
              <a:t>Status útil não descreve a tela. Ele orienta a próxima decisão do gestor.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1258C-8867-482C-875A-DE68B572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6191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DEAF1"/>
          </a:solidFill>
          <a:ln xmlns:a="http://schemas.openxmlformats.org/drawingml/2006/main" w="9525">
            <a:solidFill>
              <a:srgbClr val="D92D6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546C0-9C85-4C41-9A57-DCFC0F58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14575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2D6F"/>
                </a:solidFill>
              </a:defRPr>
            </a:pPr>
            <a:r>
              <a:rPr sz="1275" b="1">
                <a:solidFill>
                  <a:srgbClr val="D92D6F"/>
                </a:solidFill>
              </a:rPr>
              <a:t>SEM EQUIPE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50627-1EBB-4219-87A5-BC194151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14575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Cadastrar ou selecionar equipe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1B07E-D832-47B3-A987-57577F44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58483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E59A2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52227-1EF7-412E-9924-BD9EA11D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57525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9A2F"/>
                </a:solidFill>
              </a:defRPr>
            </a:pPr>
            <a:r>
              <a:rPr sz="1275" b="1">
                <a:solidFill>
                  <a:srgbClr val="E59A2F"/>
                </a:solidFill>
              </a:rPr>
              <a:t>AGUARDANDO VOLUNTÁRIOS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D6F6B-868C-42A0-BACA-184E62E6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57525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Abrir equipe operacional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135C17-94A1-47A1-A6AD-58289E59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5505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1EAFF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DAB1A1-C9BB-4922-9D22-7F227287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00475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28D9"/>
                </a:solidFill>
              </a:defRPr>
            </a:pPr>
            <a:r>
              <a:rPr sz="1275" b="1">
                <a:solidFill>
                  <a:srgbClr val="6D28D9"/>
                </a:solidFill>
              </a:rPr>
              <a:t>AGUARDANDO APROVAÇÃO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3CB607-33F9-4814-A947-7A1D6059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00475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Decidir no Inbox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D2D87C-6A91-475D-84C8-77C582CE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81500"/>
            <a:ext cx="51625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8F8FA"/>
          </a:solidFill>
          <a:ln xmlns:a="http://schemas.openxmlformats.org/drawingml/2006/main" w="9525">
            <a:solidFill>
              <a:srgbClr val="117A8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08B25D-EB87-49D2-BAFC-30B24BF5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43425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7A8B"/>
                </a:solidFill>
              </a:defRPr>
            </a:pPr>
            <a:r>
              <a:rPr sz="1275" b="1">
                <a:solidFill>
                  <a:srgbClr val="117A8B"/>
                </a:solidFill>
              </a:rPr>
              <a:t>AGUARDANDO CONFIRMAÇÕES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E23EE3-BC4A-4D0C-B049-4FBE1F66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54342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Reenviar ou ajustar convites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3C5DE5-A115-4555-8875-4F67849C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24450"/>
            <a:ext cx="48196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9525">
            <a:solidFill>
              <a:srgbClr val="087A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26D61C-5B71-45E6-B67F-9B0EE64E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A6B"/>
                </a:solidFill>
              </a:defRPr>
            </a:pPr>
            <a:r>
              <a:rPr sz="1275" b="1">
                <a:solidFill>
                  <a:srgbClr val="087A6B"/>
                </a:solidFill>
              </a:rPr>
              <a:t>PRONTO PARA O CULTO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9FDFCB-2A9C-43F6-B6FA-7C7CEBA6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2863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Acompanhar a operação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EEFD71-9993-42C3-9C6E-658163C4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09800"/>
            <a:ext cx="3657600" cy="33909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063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6A1A57-FFE4-415B-8101-02DE25B4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527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Regra de ouro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DF0EC0-B0C9-449C-AACE-8486E467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86100"/>
            <a:ext cx="2895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Clique no problema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e resolva no mesmo contexto.</a:t>
            </a:r>
          </a:p>
        </p:txBody>
      </p:sp>
      <p:sp>
        <p:nvSpPr>
          <p:cNvPr id="22" name="status-callout-rule">
            <a:extLst xmlns:a="http://schemas.openxmlformats.org/drawingml/2006/main">
              <a:ext uri="{FF2B5EF4-FFF2-40B4-BE49-F238E27FC236}">
                <a16:creationId xmlns:a16="http://schemas.microsoft.com/office/drawing/2014/main" id="{97097CDA-2FA5-4919-BD90-F3EA9CE6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33850"/>
            <a:ext cx="121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4FBC40-99D2-4A84-8364-B1AE9D7A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196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E8E2"/>
                </a:solidFill>
              </a:defRPr>
            </a:pPr>
            <a:r>
              <a:rPr sz="1500" b="0">
                <a:solidFill>
                  <a:srgbClr val="CDE8E2"/>
                </a:solidFill>
              </a:rPr>
              <a:t>Sem página intermediária.</a:t>
            </a:r>
          </a:p>
          <a:p xmlns:a="http://schemas.openxmlformats.org/drawingml/2006/main">
            <a:pPr algn="l">
              <a:defRPr sz="1500" b="0">
                <a:solidFill>
                  <a:srgbClr val="CDE8E2"/>
                </a:solidFill>
              </a:defRPr>
            </a:pPr>
            <a:r>
              <a:rPr sz="1500" b="0">
                <a:solidFill>
                  <a:srgbClr val="CDE8E2"/>
                </a:solidFill>
              </a:rPr>
              <a:t>Sem status otimista.</a:t>
            </a:r>
          </a:p>
          <a:p xmlns:a="http://schemas.openxmlformats.org/drawingml/2006/main">
            <a:pPr algn="l">
              <a:defRPr sz="1500" b="0">
                <a:solidFill>
                  <a:srgbClr val="CDE8E2"/>
                </a:solidFill>
              </a:defRPr>
            </a:pPr>
            <a:r>
              <a:rPr sz="1500" b="0">
                <a:solidFill>
                  <a:srgbClr val="CDE8E2"/>
                </a:solidFill>
              </a:rPr>
              <a:t>Sem esconder pendências.</a:t>
            </a:r>
          </a:p>
        </p:txBody>
      </p:sp>
      <p:sp>
        <p:nvSpPr>
          <p:cNvPr id="2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3E98AC92-5E83-47C8-980D-B2DFCE3B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DCD5"/>
                </a:solidFill>
              </a:defRPr>
            </a:pPr>
            <a:r>
              <a:rPr sz="825" b="1">
                <a:solidFill>
                  <a:srgbClr val="B8DCD5"/>
                </a:solidFill>
              </a:rPr>
              <a:t>CULTO+  •  FLUXO DO CULTO</a:t>
            </a:r>
          </a:p>
        </p:txBody>
      </p:sp>
      <p:sp>
        <p:nvSpPr>
          <p:cNvPr id="2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14B9427-779A-4BB8-8776-397B9CD7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8DCD5"/>
                </a:solidFill>
              </a:defRPr>
            </a:pPr>
            <a:r>
              <a:rPr sz="825" b="1">
                <a:solidFill>
                  <a:srgbClr val="B8DCD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528297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eyebrow-Prontidão operacional">
            <a:extLst xmlns:a="http://schemas.openxmlformats.org/drawingml/2006/main">
              <a:ext uri="{FF2B5EF4-FFF2-40B4-BE49-F238E27FC236}">
                <a16:creationId xmlns:a16="http://schemas.microsoft.com/office/drawing/2014/main" id="{BE2F29FD-A947-4FE2-978B-98CF6F97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6B"/>
                </a:solidFill>
              </a:defRPr>
            </a:pPr>
            <a:r>
              <a:rPr sz="900" b="1">
                <a:solidFill>
                  <a:srgbClr val="087A6B"/>
                </a:solidFill>
              </a:rPr>
              <a:t>PRONTIDÃO OPERACIONAL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1CA5F5-7679-45E8-BA31-E7E5876B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530"/>
                </a:solidFill>
              </a:defRPr>
            </a:pPr>
            <a:r>
              <a:rPr sz="3000" b="1">
                <a:solidFill>
                  <a:srgbClr val="0B1530"/>
                </a:solidFill>
              </a:rPr>
              <a:t>100% é uma régua operacional, não um selo visual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64F07-19AB-41CA-8432-5C691A5B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8"/>
                </a:solidFill>
              </a:defRPr>
            </a:pPr>
            <a:r>
              <a:rPr sz="1500" b="0">
                <a:solidFill>
                  <a:srgbClr val="5E6878"/>
                </a:solidFill>
              </a:rPr>
              <a:t>O percentual só avança quando os elementos necessários para aquele culto estão realmente concluídos.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FB30B-9229-483B-871F-DFFEDBED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075E52"/>
                </a:solidFill>
              </a:defRPr>
            </a:pPr>
            <a:r>
              <a:rPr sz="7200" b="1">
                <a:solidFill>
                  <a:srgbClr val="075E52"/>
                </a:solidFill>
              </a:rPr>
              <a:t>100%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865FE-DF55-4E73-BDFB-168BAA3D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530"/>
                </a:solidFill>
              </a:defRPr>
            </a:pPr>
            <a:r>
              <a:rPr sz="1800" b="1">
                <a:solidFill>
                  <a:srgbClr val="0B1530"/>
                </a:solidFill>
              </a:rPr>
              <a:t>pronto para celebrar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AE8688-A4EE-4BFF-9B26-74D1675F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36766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BA66D2-F40E-473D-B80D-4533CC43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36766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87AA0C-F8E0-441F-9C77-7AF865EF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3790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8"/>
                </a:solidFill>
              </a:defRPr>
            </a:pPr>
            <a:r>
              <a:rPr sz="1425" b="0">
                <a:solidFill>
                  <a:srgbClr val="5E6878"/>
                </a:solidFill>
              </a:rPr>
              <a:t>Alertas e pendências mostram somente o que ainda bloqueia essa conclusão.</a:t>
            </a:r>
          </a:p>
        </p:txBody>
      </p:sp>
      <p:sp>
        <p:nvSpPr>
          <p:cNvPr id="9" name="readiness-divider">
            <a:extLst xmlns:a="http://schemas.openxmlformats.org/drawingml/2006/main">
              <a:ext uri="{FF2B5EF4-FFF2-40B4-BE49-F238E27FC236}">
                <a16:creationId xmlns:a16="http://schemas.microsoft.com/office/drawing/2014/main" id="{990577E9-535C-4B97-981C-7D4B284A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86000"/>
            <a:ext cx="381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D1196C-9923-44EC-8724-9555A2E4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52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32EE4B-F3F3-49C1-AF2A-3FB8CFF6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383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C3F35F-08D7-484C-BF37-6DCB69E9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621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530"/>
                </a:solidFill>
              </a:defRPr>
            </a:pPr>
            <a:r>
              <a:rPr sz="1500" b="1">
                <a:solidFill>
                  <a:srgbClr val="0B1530"/>
                </a:solidFill>
              </a:rPr>
              <a:t>Conteúdo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E21CD2-E774-4DC5-93C5-838A8F0E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384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Tema, texto-base e liturgia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98EB18-5D4B-4755-BE88-D6599779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28850"/>
            <a:ext cx="5143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9749B9-BEDC-48D7-996E-9B927214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86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7A6B"/>
                </a:solidFill>
              </a:defRPr>
            </a:pPr>
            <a:r>
              <a:rPr sz="1125" b="1">
                <a:solidFill>
                  <a:srgbClr val="087A6B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C47ADA-C906-4954-B9CE-D18D4A78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895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272C02-66E6-423A-8F1F-7ECD5898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8034DD-4151-4ADD-AEE1-3FA66EC2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051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530"/>
                </a:solidFill>
              </a:defRPr>
            </a:pPr>
            <a:r>
              <a:rPr sz="1500" b="1">
                <a:solidFill>
                  <a:srgbClr val="0B1530"/>
                </a:solidFill>
              </a:rPr>
              <a:t>Equipes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432023-6234-4BA6-93C0-0D23CE69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813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Times e funções do culto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B83D6A-444D-4C31-969C-A2E134B6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971800"/>
            <a:ext cx="5143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E0C66C-A9F0-4C32-8A45-BDD8F071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289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7A6B"/>
                </a:solidFill>
              </a:defRPr>
            </a:pPr>
            <a:r>
              <a:rPr sz="1125" b="1">
                <a:solidFill>
                  <a:srgbClr val="087A6B"/>
                </a:solidFill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7EBB5E-8E91-4C1A-B2E8-BED317AC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638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75FF07-D2E9-418B-AE5E-812803E7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24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EB96AF-D4B5-4FC2-A641-70DFFAB3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480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530"/>
                </a:solidFill>
              </a:defRPr>
            </a:pPr>
            <a:r>
              <a:rPr sz="1500" b="1">
                <a:solidFill>
                  <a:srgbClr val="0B1530"/>
                </a:solidFill>
              </a:rPr>
              <a:t>Voluntários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F711EB-280C-4F5D-B277-4394E6E0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243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Pessoas realmente escaladas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F01F6A-7213-4545-AA99-445F4DF1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14750"/>
            <a:ext cx="5143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06EF78-CF21-423C-AEEE-98651BDF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71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7A6B"/>
                </a:solidFill>
              </a:defRPr>
            </a:pPr>
            <a:r>
              <a:rPr sz="1125" b="1">
                <a:solidFill>
                  <a:srgbClr val="087A6B"/>
                </a:solidFill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FEA550-A60F-4167-BD9B-105A9FC4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381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233773-142D-41AC-984E-71379E15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4672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37D0E5-2690-40D3-8A73-86AD1D88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910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530"/>
                </a:solidFill>
              </a:defRPr>
            </a:pPr>
            <a:r>
              <a:rPr sz="1500" b="1">
                <a:solidFill>
                  <a:srgbClr val="0B1530"/>
                </a:solidFill>
              </a:rPr>
              <a:t>Confirmações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A5235A-5E61-420A-8664-8AE8387E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672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Respostas registradas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744329-39A7-4752-B28B-4DD4365A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57700"/>
            <a:ext cx="5143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4F8B86-D869-4E4B-B13C-8E30439B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14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7A6B"/>
                </a:solidFill>
              </a:defRPr>
            </a:pPr>
            <a:r>
              <a:rPr sz="1125" b="1">
                <a:solidFill>
                  <a:srgbClr val="087A6B"/>
                </a:solidFill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89EF3D-F80C-4D40-BD38-A84682CD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124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7A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3D23C6-145F-4E9C-B69B-3117F0F4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2101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52B217-12AA-4342-B8FD-6B9101C8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339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530"/>
                </a:solidFill>
              </a:defRPr>
            </a:pPr>
            <a:r>
              <a:rPr sz="1500" b="1">
                <a:solidFill>
                  <a:srgbClr val="0B1530"/>
                </a:solidFill>
              </a:rPr>
              <a:t>Acesso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A2B86B-7A10-467E-BDF9-4FDC753B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102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Local, online e QR Code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907E15-385E-40F9-AC71-9D39194D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200650"/>
            <a:ext cx="5143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6C6C91-CA22-4216-9747-8DAE1E24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257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7A6B"/>
                </a:solidFill>
              </a:defRPr>
            </a:pPr>
            <a:r>
              <a:rPr sz="1125" b="1">
                <a:solidFill>
                  <a:srgbClr val="087A6B"/>
                </a:solidFill>
              </a:rPr>
              <a:t>✓</a:t>
            </a:r>
          </a:p>
        </p:txBody>
      </p:sp>
      <p:sp>
        <p:nvSpPr>
          <p:cNvPr id="40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0F838C65-3A0B-498C-B1B9-F1B348E4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CULTO+  •  FLUXO DO CULTO</a:t>
            </a:r>
          </a:p>
        </p:txBody>
      </p:sp>
      <p:sp>
        <p:nvSpPr>
          <p:cNvPr id="4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2B177DE-5250-4962-BCB8-11C8B45B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865946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-Fechamento">
            <a:extLst xmlns:a="http://schemas.openxmlformats.org/drawingml/2006/main">
              <a:ext uri="{FF2B5EF4-FFF2-40B4-BE49-F238E27FC236}">
                <a16:creationId xmlns:a16="http://schemas.microsoft.com/office/drawing/2014/main" id="{C50EE8BB-EE77-4F79-BE47-07D07731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6B"/>
                </a:solidFill>
              </a:defRPr>
            </a:pPr>
            <a:r>
              <a:rPr sz="900" b="1">
                <a:solidFill>
                  <a:srgbClr val="087A6B"/>
                </a:solidFill>
              </a:rPr>
              <a:t>FECHAMENTO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19A9DD-4F8D-4EED-9362-EE9CDD8D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530"/>
                </a:solidFill>
              </a:defRPr>
            </a:pPr>
            <a:r>
              <a:rPr sz="3000" b="1">
                <a:solidFill>
                  <a:srgbClr val="0B1530"/>
                </a:solidFill>
              </a:rPr>
              <a:t>A semana do culto é uma corrida de fechamento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6F6A3-A741-4C0F-A352-6A58871B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8"/>
                </a:solidFill>
              </a:defRPr>
            </a:pPr>
            <a:r>
              <a:rPr sz="1500" b="0">
                <a:solidFill>
                  <a:srgbClr val="5E6878"/>
                </a:solidFill>
              </a:rPr>
              <a:t>O objetivo não é acompanhar tudo ao mesmo tempo — é resolver a pendência certa em cada momento.</a:t>
            </a:r>
          </a:p>
        </p:txBody>
      </p:sp>
      <p:sp>
        <p:nvSpPr>
          <p:cNvPr id="4" name="week-timeline-line">
            <a:extLst xmlns:a="http://schemas.openxmlformats.org/drawingml/2006/main">
              <a:ext uri="{FF2B5EF4-FFF2-40B4-BE49-F238E27FC236}">
                <a16:creationId xmlns:a16="http://schemas.microsoft.com/office/drawing/2014/main" id="{19188F21-0964-482F-A2FE-C0E9CFF9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81350"/>
            <a:ext cx="9201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DC6EC1-048D-4A78-95FB-8AF2A1CA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384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AF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F03ED-9805-4A9E-9739-D9C1EC6B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952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79503C-E37C-453C-AD85-F4D0A36C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051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T−7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9C989-0772-41C1-9F3A-55DE6132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530"/>
                </a:solidFill>
              </a:defRPr>
            </a:pPr>
            <a:r>
              <a:rPr sz="1800" b="1">
                <a:solidFill>
                  <a:srgbClr val="0B1530"/>
                </a:solidFill>
              </a:rPr>
              <a:t>Estruturar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1E7C78-70E7-4660-AD66-E4F5FFAE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228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878"/>
                </a:solidFill>
              </a:defRPr>
            </a:pPr>
            <a:r>
              <a:rPr sz="1350" b="0">
                <a:solidFill>
                  <a:srgbClr val="5E6878"/>
                </a:solidFill>
              </a:rPr>
              <a:t>Publicar o culto</a:t>
            </a:r>
          </a:p>
          <a:p xmlns:a="http://schemas.openxmlformats.org/drawingml/2006/main">
            <a:pPr algn="ctr">
              <a:defRPr sz="1350" b="0">
                <a:solidFill>
                  <a:srgbClr val="5E6878"/>
                </a:solidFill>
              </a:defRPr>
            </a:pPr>
            <a:r>
              <a:rPr sz="1350" b="0">
                <a:solidFill>
                  <a:srgbClr val="5E6878"/>
                </a:solidFill>
              </a:rPr>
              <a:t>Definir equipes</a:t>
            </a:r>
          </a:p>
          <a:p xmlns:a="http://schemas.openxmlformats.org/drawingml/2006/main">
            <a:pPr algn="ctr">
              <a:defRPr sz="1350" b="0">
                <a:solidFill>
                  <a:srgbClr val="5E6878"/>
                </a:solidFill>
              </a:defRPr>
            </a:pPr>
            <a:r>
              <a:rPr sz="1350" b="0">
                <a:solidFill>
                  <a:srgbClr val="5E6878"/>
                </a:solidFill>
              </a:rPr>
              <a:t>Abrir convites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3B24C6-300A-40D7-B918-4791481A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384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AF1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97F0E0-CC05-42D8-B8E6-E011243B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52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C966DF-0E3D-46E5-83AC-F52030AE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T−3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03D697-EF7B-4D2F-A487-823F9A83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905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530"/>
                </a:solidFill>
              </a:defRPr>
            </a:pPr>
            <a:r>
              <a:rPr sz="1800" b="1">
                <a:solidFill>
                  <a:srgbClr val="0B1530"/>
                </a:solidFill>
              </a:rPr>
              <a:t>Confirmar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7FD7A6-D194-4651-8A74-E51A5268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62450"/>
            <a:ext cx="228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878"/>
                </a:solidFill>
              </a:defRPr>
            </a:pPr>
            <a:r>
              <a:rPr sz="1350" b="0">
                <a:solidFill>
                  <a:srgbClr val="5E6878"/>
                </a:solidFill>
              </a:rPr>
              <a:t>Aprovar pedidos</a:t>
            </a:r>
          </a:p>
          <a:p xmlns:a="http://schemas.openxmlformats.org/drawingml/2006/main">
            <a:pPr algn="ctr">
              <a:defRPr sz="1350" b="0">
                <a:solidFill>
                  <a:srgbClr val="5E6878"/>
                </a:solidFill>
              </a:defRPr>
            </a:pPr>
            <a:r>
              <a:rPr sz="1350" b="0">
                <a:solidFill>
                  <a:srgbClr val="5E6878"/>
                </a:solidFill>
              </a:rPr>
              <a:t>Revisar voluntários</a:t>
            </a:r>
          </a:p>
          <a:p xmlns:a="http://schemas.openxmlformats.org/drawingml/2006/main">
            <a:pPr algn="ctr">
              <a:defRPr sz="1350" b="0">
                <a:solidFill>
                  <a:srgbClr val="5E6878"/>
                </a:solidFill>
              </a:defRPr>
            </a:pPr>
            <a:r>
              <a:rPr sz="1350" b="0">
                <a:solidFill>
                  <a:srgbClr val="5E6878"/>
                </a:solidFill>
              </a:rPr>
              <a:t>Cobrar respostas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01FAFF-09F5-4F02-BE91-9D7E1BC6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384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8199A3-2148-4EAE-997A-1EB1A855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52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CE8FBC-F76A-4446-B5B0-143B70E1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051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T−1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E2A34C-BB6F-445E-9451-0C8F0A85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05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530"/>
                </a:solidFill>
              </a:defRPr>
            </a:pPr>
            <a:r>
              <a:rPr sz="1800" b="1">
                <a:solidFill>
                  <a:srgbClr val="0B1530"/>
                </a:solidFill>
              </a:rPr>
              <a:t>Fechar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2E1AE7-3B65-47F6-96BB-D1242F16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62450"/>
            <a:ext cx="228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878"/>
                </a:solidFill>
              </a:defRPr>
            </a:pPr>
            <a:r>
              <a:rPr sz="1350" b="0">
                <a:solidFill>
                  <a:srgbClr val="5E6878"/>
                </a:solidFill>
              </a:rPr>
              <a:t>Resolver ausências</a:t>
            </a:r>
          </a:p>
          <a:p xmlns:a="http://schemas.openxmlformats.org/drawingml/2006/main">
            <a:pPr algn="ctr">
              <a:defRPr sz="1350" b="0">
                <a:solidFill>
                  <a:srgbClr val="5E6878"/>
                </a:solidFill>
              </a:defRPr>
            </a:pPr>
            <a:r>
              <a:rPr sz="1350" b="0">
                <a:solidFill>
                  <a:srgbClr val="5E6878"/>
                </a:solidFill>
              </a:rPr>
              <a:t>Validar QR e link</a:t>
            </a:r>
          </a:p>
          <a:p xmlns:a="http://schemas.openxmlformats.org/drawingml/2006/main">
            <a:pPr algn="ctr">
              <a:defRPr sz="1350" b="0">
                <a:solidFill>
                  <a:srgbClr val="5E6878"/>
                </a:solidFill>
              </a:defRPr>
            </a:pPr>
            <a:r>
              <a:rPr sz="1350" b="0">
                <a:solidFill>
                  <a:srgbClr val="5E6878"/>
                </a:solidFill>
              </a:rPr>
              <a:t>Revisar alertas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7CC16C-286B-47BC-9E40-C80141DE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384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4EC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2FB1B4-1110-4389-8A97-18BC5781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952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B74018-4479-4CEC-9DA4-AA47C522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1051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HOJE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6843DF-6044-4B66-8E71-359BDFF7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905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530"/>
                </a:solidFill>
              </a:defRPr>
            </a:pPr>
            <a:r>
              <a:rPr sz="1800" b="1">
                <a:solidFill>
                  <a:srgbClr val="0B1530"/>
                </a:solidFill>
              </a:rPr>
              <a:t>Operar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303829-064A-4579-96B3-422885A1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62450"/>
            <a:ext cx="228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878"/>
                </a:solidFill>
              </a:defRPr>
            </a:pPr>
            <a:r>
              <a:rPr sz="1350" b="0">
                <a:solidFill>
                  <a:srgbClr val="5E6878"/>
                </a:solidFill>
              </a:rPr>
              <a:t>Acompanhar equipes</a:t>
            </a:r>
          </a:p>
          <a:p xmlns:a="http://schemas.openxmlformats.org/drawingml/2006/main">
            <a:pPr algn="ctr">
              <a:defRPr sz="1350" b="0">
                <a:solidFill>
                  <a:srgbClr val="5E6878"/>
                </a:solidFill>
              </a:defRPr>
            </a:pPr>
            <a:r>
              <a:rPr sz="1350" b="0">
                <a:solidFill>
                  <a:srgbClr val="5E6878"/>
                </a:solidFill>
              </a:rPr>
              <a:t>Registrar presença</a:t>
            </a:r>
          </a:p>
          <a:p xmlns:a="http://schemas.openxmlformats.org/drawingml/2006/main">
            <a:pPr algn="ctr">
              <a:defRPr sz="1350" b="0">
                <a:solidFill>
                  <a:srgbClr val="5E6878"/>
                </a:solidFill>
              </a:defRPr>
            </a:pPr>
            <a:r>
              <a:rPr sz="1350" b="0">
                <a:solidFill>
                  <a:srgbClr val="5E6878"/>
                </a:solidFill>
              </a:rPr>
              <a:t>Responder imprevistos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EF903E-19B4-4C9E-83F5-536CB682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76900"/>
            <a:ext cx="7810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B15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43E712-43ED-4B91-99D3-2FA88479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819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 lista de alertas deve diminuir conforme o culto se aproxima.</a:t>
            </a:r>
          </a:p>
        </p:txBody>
      </p:sp>
      <p:sp>
        <p:nvSpPr>
          <p:cNvPr id="27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34F01DAC-D52B-4F53-A0C0-A2BDFE3C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CULTO+  •  FLUXO DO CULTO</a:t>
            </a:r>
          </a:p>
        </p:txBody>
      </p:sp>
      <p:sp>
        <p:nvSpPr>
          <p:cNvPr id="2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AEB0594-758F-4E78-830F-AAFDF72A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797993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629F63-2CE1-4A66-B902-840DF8A1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Durante o culto">
            <a:extLst xmlns:a="http://schemas.openxmlformats.org/drawingml/2006/main">
              <a:ext uri="{FF2B5EF4-FFF2-40B4-BE49-F238E27FC236}">
                <a16:creationId xmlns:a16="http://schemas.microsoft.com/office/drawing/2014/main" id="{A45772F8-253C-41D2-B933-8AE788D2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6B"/>
                </a:solidFill>
              </a:defRPr>
            </a:pPr>
            <a:r>
              <a:rPr sz="900" b="1">
                <a:solidFill>
                  <a:srgbClr val="087A6B"/>
                </a:solidFill>
              </a:rPr>
              <a:t>DURANTE O CULTO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728246-C5EE-4F70-83F6-8A540B5F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521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530"/>
                </a:solidFill>
              </a:defRPr>
            </a:pPr>
            <a:r>
              <a:rPr sz="2700" b="1">
                <a:solidFill>
                  <a:srgbClr val="0B1530"/>
                </a:solidFill>
              </a:rPr>
              <a:t>Bastidores e experiência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92B5D-2195-4C06-858B-1BB3040E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81915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se encontram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F3079-A01C-47C4-AF0D-5BAC2B02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8"/>
                </a:solidFill>
              </a:defRPr>
            </a:pPr>
            <a:r>
              <a:rPr sz="1500" b="0">
                <a:solidFill>
                  <a:srgbClr val="5E6878"/>
                </a:solidFill>
              </a:rPr>
              <a:t>A mesma programação sustenta quem participa e quem serve.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D26EB-F767-4B70-BBEF-33AF9903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5049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E8E2"/>
                </a:solidFill>
              </a:defRPr>
            </a:pPr>
            <a:r>
              <a:rPr sz="1500" b="0">
                <a:solidFill>
                  <a:srgbClr val="CDE8E2"/>
                </a:solidFill>
              </a:rPr>
              <a:t>A operação fica visível sem invadir a experiência do culto.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27D69C-6A0E-4832-A6DD-5697650D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MEMBRO E PÚBLICO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D23E0F-F5CD-4BB7-BBE1-B201246D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530"/>
                </a:solidFill>
              </a:defRPr>
            </a:pPr>
            <a:r>
              <a:rPr sz="2400" b="1">
                <a:solidFill>
                  <a:srgbClr val="0B1530"/>
                </a:solidFill>
              </a:rPr>
              <a:t>Participar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4D55AD-96E6-464E-A73F-EA1732BC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987929-07F1-430D-AAE3-C70C0C5F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43275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B781D3-74CE-4D69-8F48-93D8BC5D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7660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8"/>
                </a:solidFill>
              </a:defRPr>
            </a:pPr>
            <a:r>
              <a:rPr sz="1350" b="0">
                <a:solidFill>
                  <a:srgbClr val="5E6878"/>
                </a:solidFill>
              </a:rPr>
              <a:t>Acessar culto presencial ou online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5E2AB-3DA2-4793-89FE-E1B78A31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48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B28E09-88FF-44BA-91D5-3561BFF4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95725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65D4D9-DFB4-44AA-8169-EC937234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2905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8"/>
                </a:solidFill>
              </a:defRPr>
            </a:pPr>
            <a:r>
              <a:rPr sz="1350" b="0">
                <a:solidFill>
                  <a:srgbClr val="5E6878"/>
                </a:solidFill>
              </a:rPr>
              <a:t>Acompanhar Bíblia e momentos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B63D17-FA50-42A2-B87A-51C105AA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E805A5-345F-44EB-BE01-AEEEA1EA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48175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4CC8FD-D9D7-4325-9B15-56C50A55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8150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8"/>
                </a:solidFill>
              </a:defRPr>
            </a:pPr>
            <a:r>
              <a:rPr sz="1350" b="0">
                <a:solidFill>
                  <a:srgbClr val="5E6878"/>
                </a:solidFill>
              </a:rPr>
              <a:t>Fazer check-in e registrar presença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E7ED23-9F4C-496C-AE47-A61458AA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974E59-AD6B-4064-9CE8-EB44F653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0625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028A51-68D0-422E-88BB-156D6A06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3395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8"/>
                </a:solidFill>
              </a:defRPr>
            </a:pPr>
            <a:r>
              <a:rPr sz="1350" b="0">
                <a:solidFill>
                  <a:srgbClr val="5E6878"/>
                </a:solidFill>
              </a:rPr>
              <a:t>Receber conteúdo e próximos passos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EABE24-F34B-4A8F-AE3F-AC6AA6C9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09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ED4CA"/>
                </a:solidFill>
              </a:defRPr>
            </a:pPr>
            <a:r>
              <a:rPr sz="975" b="1">
                <a:solidFill>
                  <a:srgbClr val="9ED4CA"/>
                </a:solidFill>
              </a:rPr>
              <a:t>LIDERANÇA E EQUIPES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A2A91C-B4B2-4CC9-884C-458201DB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908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Operar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B7D46B-5291-4C33-9440-85FBA2BC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95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45EFA3-6012-42AC-AB2B-DA01073E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43275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C58027-FB7E-4CCC-8CE2-89EF802F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7660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Ver equipes, funções e confirmações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4E9717-61CF-4A2D-A0F7-3D32B3CD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48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B4B281-1755-4EFE-831B-EC57B52C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95725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AAF0A7-0660-4F65-BE8D-02002B87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2905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Acompanhar a linha do culto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FF1BD2-7D38-405C-8B32-FC0FD7ED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00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0AC483-28CB-4955-BEAA-FFA230C0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8175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076DF3-E4B7-44E8-8D55-034825BE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8150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Resolver ausências e pendências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1BE823-2420-418A-B37E-CAFE00BD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F2D158-F364-42C8-8144-C3F0EEEA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00625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02A987-3421-413C-8732-2103006B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3395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Registrar decisões para o pós-culto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F3CE1B-2DE9-45B1-9EAF-4850305C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956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9E4D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B5C433-A9FC-4442-A0CD-5BAE3D0E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6705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87A6B"/>
                </a:solidFill>
              </a:defRPr>
            </a:pPr>
            <a:r>
              <a:rPr sz="2850" b="1">
                <a:solidFill>
                  <a:srgbClr val="087A6B"/>
                </a:solidFill>
              </a:rPr>
              <a:t>+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0D14D5-D160-48F3-B33F-0E7F5FE7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92430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4D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4F0394-BE7B-43F2-B507-CD51BD8C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00050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5E52"/>
                </a:solidFill>
              </a:defRPr>
            </a:pPr>
            <a:r>
              <a:rPr sz="900" b="1">
                <a:solidFill>
                  <a:srgbClr val="075E52"/>
                </a:solidFill>
              </a:rPr>
              <a:t>UM CULTO</a:t>
            </a:r>
          </a:p>
        </p:txBody>
      </p:sp>
      <p:sp>
        <p:nvSpPr>
          <p:cNvPr id="39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AE2B97C0-AB6F-4F46-83B4-5E11C19F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DCD5"/>
                </a:solidFill>
              </a:defRPr>
            </a:pPr>
            <a:r>
              <a:rPr sz="825" b="1">
                <a:solidFill>
                  <a:srgbClr val="B8DCD5"/>
                </a:solidFill>
              </a:rPr>
              <a:t>CULTO+  •  FLUXO DO CULTO</a:t>
            </a:r>
          </a:p>
        </p:txBody>
      </p:sp>
      <p:sp>
        <p:nvSpPr>
          <p:cNvPr id="4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EF145B2-8148-4D1C-A73B-A5967B89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8DCD5"/>
                </a:solidFill>
              </a:defRPr>
            </a:pPr>
            <a:r>
              <a:rPr sz="825" b="1">
                <a:solidFill>
                  <a:srgbClr val="B8DCD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973768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eyebrow-Depois do culto">
            <a:extLst xmlns:a="http://schemas.openxmlformats.org/drawingml/2006/main">
              <a:ext uri="{FF2B5EF4-FFF2-40B4-BE49-F238E27FC236}">
                <a16:creationId xmlns:a16="http://schemas.microsoft.com/office/drawing/2014/main" id="{E10A1E28-61B5-4AF9-8B54-1210D820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6B"/>
                </a:solidFill>
              </a:defRPr>
            </a:pPr>
            <a:r>
              <a:rPr sz="900" b="1">
                <a:solidFill>
                  <a:srgbClr val="087A6B"/>
                </a:solidFill>
              </a:rPr>
              <a:t>DEPOIS DO CULTO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4B3208-F0BB-40A8-AE1C-39A63053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530"/>
                </a:solidFill>
              </a:defRPr>
            </a:pPr>
            <a:r>
              <a:rPr sz="3000" b="1">
                <a:solidFill>
                  <a:srgbClr val="0B1530"/>
                </a:solidFill>
              </a:rPr>
              <a:t>O pós-culto transforma presença em cuidado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935C61-527E-44AB-9265-A5D36F30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8"/>
                </a:solidFill>
              </a:defRPr>
            </a:pPr>
            <a:r>
              <a:rPr sz="1500" b="0">
                <a:solidFill>
                  <a:srgbClr val="5E6878"/>
                </a:solidFill>
              </a:rPr>
              <a:t>O encerramento operacional abre uma nova sequência: compreender, responder e acompanhar.</a:t>
            </a:r>
          </a:p>
        </p:txBody>
      </p:sp>
      <p:sp>
        <p:nvSpPr>
          <p:cNvPr id="4" name="post-cult-loop-line">
            <a:extLst xmlns:a="http://schemas.openxmlformats.org/drawingml/2006/main">
              <a:ext uri="{FF2B5EF4-FFF2-40B4-BE49-F238E27FC236}">
                <a16:creationId xmlns:a16="http://schemas.microsoft.com/office/drawing/2014/main" id="{E0C5327E-069F-4AE4-8E63-8C4ED35A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95650"/>
            <a:ext cx="971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D32CE-9040-48D0-B350-6AE57373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AF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2B631-29C0-41AF-936A-07D782ED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0384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A5E0A-88F7-40AA-9765-3AFC2FF9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1242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46B911-42C5-451C-AF2F-E3A34AC2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530"/>
                </a:solidFill>
              </a:defRPr>
            </a:pPr>
            <a:r>
              <a:rPr sz="1650" b="1">
                <a:solidFill>
                  <a:srgbClr val="0B1530"/>
                </a:solidFill>
              </a:rPr>
              <a:t>Registrar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00E19-0B8E-4088-B49A-17E23503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95800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Presença, check-in</a:t>
            </a:r>
          </a:p>
          <a:p xmlns:a="http://schemas.openxmlformats.org/drawingml/2006/main">
            <a:pPr algn="ctr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e respostas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52C0BC-60F0-4B8E-A21B-6793794C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622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AF1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C01D99-25F7-41AB-801A-BEAA6B8A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0384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7F039E-0D63-499E-AE45-6FE6E895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1242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4E4751-664A-4D01-9633-7C6EDD52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148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530"/>
                </a:solidFill>
              </a:defRPr>
            </a:pPr>
            <a:r>
              <a:rPr sz="1650" b="1">
                <a:solidFill>
                  <a:srgbClr val="0B1530"/>
                </a:solidFill>
              </a:rPr>
              <a:t>Compreender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2ED320-1E37-4920-8FA1-CC42B1EB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95800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O que aconteceu</a:t>
            </a:r>
          </a:p>
          <a:p xmlns:a="http://schemas.openxmlformats.org/drawingml/2006/main">
            <a:pPr algn="ctr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e quem precisa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01EBD5-F4C3-43A9-9F46-3D78B11F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622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E4C042-1F4D-4C50-A608-1CAED8AA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0384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49C7AA-7B0B-423D-AFFB-E7FC3FD0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1242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597485-F4F7-4B6E-879B-D61634B4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1148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530"/>
                </a:solidFill>
              </a:defRPr>
            </a:pPr>
            <a:r>
              <a:rPr sz="1650" b="1">
                <a:solidFill>
                  <a:srgbClr val="0B1530"/>
                </a:solidFill>
              </a:rPr>
              <a:t>Encaminhar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3419D1-3332-4ED9-9186-4395A8A1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95800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Inbox pastoral,</a:t>
            </a:r>
          </a:p>
          <a:p xmlns:a="http://schemas.openxmlformats.org/drawingml/2006/main">
            <a:pPr algn="ctr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grupo ou liderança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5CD690-00D2-44A1-B345-D82E7700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622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4EC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F4054D-1954-4769-AF19-824C77C9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0384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575BF2-62CF-4FD8-BD98-D72FE447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1242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E21594-0762-40E2-95EC-C74969C0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1148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530"/>
                </a:solidFill>
              </a:defRPr>
            </a:pPr>
            <a:r>
              <a:rPr sz="1650" b="1">
                <a:solidFill>
                  <a:srgbClr val="0B1530"/>
                </a:solidFill>
              </a:rPr>
              <a:t>Acompanhar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3D426F-F96E-4AB0-913F-B3507554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95800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Retorno, oração</a:t>
            </a:r>
          </a:p>
          <a:p xmlns:a="http://schemas.openxmlformats.org/drawingml/2006/main">
            <a:pPr algn="ctr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e próximos passos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6DF116-E9EB-4818-AE39-7D1ABF65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622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8FA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B6D60F-8F93-444E-9634-398EBD0E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0384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7A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74D5F9-CFD8-4B33-B3EE-2B5AD4FF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1242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A343A5-63F8-4A94-815A-8F0F9568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1148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530"/>
                </a:solidFill>
              </a:defRPr>
            </a:pPr>
            <a:r>
              <a:rPr sz="1650" b="1">
                <a:solidFill>
                  <a:srgbClr val="0B1530"/>
                </a:solidFill>
              </a:rPr>
              <a:t>Continuar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A0F3F5-DEDB-4983-8B25-819453F0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495800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Devocional, plano</a:t>
            </a:r>
          </a:p>
          <a:p xmlns:a="http://schemas.openxmlformats.org/drawingml/2006/main">
            <a:pPr algn="ctr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e próximo culto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21E97C-F638-4F42-889B-E3025AE2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467350"/>
            <a:ext cx="84201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0FBF7"/>
          </a:solidFill>
          <a:ln xmlns:a="http://schemas.openxmlformats.org/drawingml/2006/main" w="9525">
            <a:solidFill>
              <a:srgbClr val="CDEB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04E4FD-BFD7-4520-B34D-5AB980C5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648325"/>
            <a:ext cx="777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5E52"/>
                </a:solidFill>
              </a:defRPr>
            </a:pPr>
            <a:r>
              <a:rPr sz="1350" b="1">
                <a:solidFill>
                  <a:srgbClr val="075E52"/>
                </a:solidFill>
              </a:rPr>
              <a:t>O cuidado preserva o contexto do culto e evita que necessidades desapareçam depois do domingo.</a:t>
            </a:r>
          </a:p>
        </p:txBody>
      </p:sp>
      <p:sp>
        <p:nvSpPr>
          <p:cNvPr id="32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597A577B-BD90-41EA-8CE9-0FC08B40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CULTO+  •  FLUXO DO CULTO</a:t>
            </a:r>
          </a:p>
        </p:txBody>
      </p:sp>
      <p:sp>
        <p:nvSpPr>
          <p:cNvPr id="3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3BC9AC2-FABE-4ACC-9B5E-71CACE03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45638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-O produto em ação">
            <a:extLst xmlns:a="http://schemas.openxmlformats.org/drawingml/2006/main">
              <a:ext uri="{FF2B5EF4-FFF2-40B4-BE49-F238E27FC236}">
                <a16:creationId xmlns:a16="http://schemas.microsoft.com/office/drawing/2014/main" id="{D0D37A84-AD53-4BCD-B93F-1493B81F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6B"/>
                </a:solidFill>
              </a:defRPr>
            </a:pPr>
            <a:r>
              <a:rPr sz="900" b="1">
                <a:solidFill>
                  <a:srgbClr val="087A6B"/>
                </a:solidFill>
              </a:rPr>
              <a:t>O PRODUTO EM AÇÃO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B1FC99-CC94-4E82-A433-B4A62707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530"/>
                </a:solidFill>
              </a:defRPr>
            </a:pPr>
            <a:r>
              <a:rPr sz="3000" b="1">
                <a:solidFill>
                  <a:srgbClr val="0B1530"/>
                </a:solidFill>
              </a:rPr>
              <a:t>O fluxo aparece na tela — e continua sendo um só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8443BF-34A7-46FB-BB84-0C880CAD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8"/>
                </a:solidFill>
              </a:defRPr>
            </a:pPr>
            <a:r>
              <a:rPr sz="1500" b="0">
                <a:solidFill>
                  <a:srgbClr val="5E6878"/>
                </a:solidFill>
              </a:rPr>
              <a:t>Gestão, decisão e participação compartilham o mesmo contexto do culto.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9B604F-6835-4475-BBA6-B66F131A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2C9D56-6FE0-4966-B774-C16A68D9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9B3FA-CA29-473D-B676-EC73E453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D28D9"/>
                </a:solidFill>
              </a:defRPr>
            </a:pPr>
            <a:r>
              <a:rPr sz="900" b="1">
                <a:solidFill>
                  <a:srgbClr val="6D28D9"/>
                </a:solidFill>
              </a:rPr>
              <a:t>PREPARAR</a:t>
            </a:r>
          </a:p>
        </p:txBody>
      </p:sp>
      <p:sp>
        <p:nvSpPr>
          <p:cNvPr id="7" name="screen-cultos-frame">
            <a:extLst xmlns:a="http://schemas.openxmlformats.org/drawingml/2006/main">
              <a:ext uri="{FF2B5EF4-FFF2-40B4-BE49-F238E27FC236}">
                <a16:creationId xmlns:a16="http://schemas.microsoft.com/office/drawing/2014/main" id="{BD32027A-7488-4A99-84EB-C4FEDD56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6019800" cy="4086225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4DC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2b2b6dfd8348ed"/>
          <a:stretch xmlns:a="http://schemas.openxmlformats.org/drawingml/2006/main"/>
        </p:blipFill>
        <p:spPr>
          <a:xfrm xmlns:a="http://schemas.openxmlformats.org/drawingml/2006/main">
            <a:off x="693500" y="2152650"/>
            <a:ext cx="5737700" cy="3971925"/>
          </a:xfrm>
          <a:prstGeom xmlns:a="http://schemas.openxmlformats.org/drawingml/2006/main" prst="roundRect">
            <a:avLst>
              <a:gd name="adj" fmla="val 287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A072F4-85C7-444F-B7AA-C67BC461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47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AE8936-A780-4C12-B467-149FC0A1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85950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7DB7C7-050B-4E7D-8C27-6B17CBD7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885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59A2F"/>
                </a:solidFill>
              </a:defRPr>
            </a:pPr>
            <a:r>
              <a:rPr sz="900" b="1">
                <a:solidFill>
                  <a:srgbClr val="E59A2F"/>
                </a:solidFill>
              </a:rPr>
              <a:t>DECIDIR</a:t>
            </a:r>
          </a:p>
        </p:txBody>
      </p:sp>
      <p:sp>
        <p:nvSpPr>
          <p:cNvPr id="12" name="screen-inbox-frame">
            <a:extLst xmlns:a="http://schemas.openxmlformats.org/drawingml/2006/main">
              <a:ext uri="{FF2B5EF4-FFF2-40B4-BE49-F238E27FC236}">
                <a16:creationId xmlns:a16="http://schemas.microsoft.com/office/drawing/2014/main" id="{5A42C979-839B-4044-8050-29C7DE20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95500"/>
            <a:ext cx="2457450" cy="30099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4DC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87c8703ef54454"/>
          <a:stretch xmlns:a="http://schemas.openxmlformats.org/drawingml/2006/main"/>
        </p:blipFill>
        <p:spPr>
          <a:xfrm xmlns:a="http://schemas.openxmlformats.org/drawingml/2006/main">
            <a:off x="6896100" y="2190532"/>
            <a:ext cx="2343150" cy="2819837"/>
          </a:xfrm>
          <a:prstGeom xmlns:a="http://schemas.openxmlformats.org/drawingml/2006/main" prst="roundRect">
            <a:avLst>
              <a:gd name="adj" fmla="val 4878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DF6E66-D51F-42AE-926E-31E8AB5B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47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968F92-F52A-48EF-B182-F824DD87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85950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5189D4-1B91-49FA-9896-B7862870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885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6B"/>
                </a:solidFill>
              </a:defRPr>
            </a:pPr>
            <a:r>
              <a:rPr sz="900" b="1">
                <a:solidFill>
                  <a:srgbClr val="087A6B"/>
                </a:solidFill>
              </a:rPr>
              <a:t>PARTICIPAR</a:t>
            </a:r>
          </a:p>
        </p:txBody>
      </p:sp>
      <p:sp>
        <p:nvSpPr>
          <p:cNvPr id="17" name="screen-voluntariado-frame">
            <a:extLst xmlns:a="http://schemas.openxmlformats.org/drawingml/2006/main">
              <a:ext uri="{FF2B5EF4-FFF2-40B4-BE49-F238E27FC236}">
                <a16:creationId xmlns:a16="http://schemas.microsoft.com/office/drawing/2014/main" id="{1FE00EED-5274-43E6-B0B0-A41752E2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95500"/>
            <a:ext cx="22479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4DC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8295d09bbe4294"/>
          <a:stretch xmlns:a="http://schemas.openxmlformats.org/drawingml/2006/main"/>
        </p:blipFill>
        <p:spPr>
          <a:xfrm xmlns:a="http://schemas.openxmlformats.org/drawingml/2006/main">
            <a:off x="9431595" y="2152650"/>
            <a:ext cx="2129910" cy="1466850"/>
          </a:xfrm>
          <a:prstGeom xmlns:a="http://schemas.openxmlformats.org/drawingml/2006/main" prst="roundRect">
            <a:avLst>
              <a:gd name="adj" fmla="val 7792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EB9F1F-DC7F-4AC7-9F72-B1B90BD4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9052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530"/>
                </a:solidFill>
              </a:defRPr>
            </a:pPr>
            <a:r>
              <a:rPr sz="1500" b="1">
                <a:solidFill>
                  <a:srgbClr val="0B1530"/>
                </a:solidFill>
              </a:rPr>
              <a:t>Candidatura simples,</a:t>
            </a:r>
          </a:p>
          <a:p xmlns:a="http://schemas.openxmlformats.org/drawingml/2006/main">
            <a:pPr algn="l">
              <a:defRPr sz="1500" b="1">
                <a:solidFill>
                  <a:srgbClr val="0B1530"/>
                </a:solidFill>
              </a:defRPr>
            </a:pPr>
            <a:r>
              <a:rPr sz="1500" b="1">
                <a:solidFill>
                  <a:srgbClr val="0B1530"/>
                </a:solidFill>
              </a:rPr>
              <a:t>com contexto e retorno.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849C62-9803-4571-8DDF-C814F26C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59105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A porta de entrada conversa com a operação da igreja.</a:t>
            </a:r>
          </a:p>
        </p:txBody>
      </p:sp>
      <p:sp>
        <p:nvSpPr>
          <p:cNvPr id="21" name="screens-flow-callout">
            <a:extLst xmlns:a="http://schemas.openxmlformats.org/drawingml/2006/main">
              <a:ext uri="{FF2B5EF4-FFF2-40B4-BE49-F238E27FC236}">
                <a16:creationId xmlns:a16="http://schemas.microsoft.com/office/drawing/2014/main" id="{99559A3E-214F-4A2E-AFA7-60A11A74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314950"/>
            <a:ext cx="4667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0FBF7"/>
          </a:solidFill>
          <a:ln xmlns:a="http://schemas.openxmlformats.org/drawingml/2006/main" w="9525">
            <a:solidFill>
              <a:srgbClr val="CDEB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472AA5-BDBD-4638-8081-DA14E6CD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4673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6B"/>
                </a:solidFill>
              </a:defRPr>
            </a:pPr>
            <a:r>
              <a:rPr sz="900" b="1">
                <a:solidFill>
                  <a:srgbClr val="087A6B"/>
                </a:solidFill>
              </a:rPr>
              <a:t>UM ÚNICO FLUXO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EC2C38-9D55-431F-8BB3-950BCCB9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695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5E52"/>
                </a:solidFill>
              </a:defRPr>
            </a:pPr>
            <a:r>
              <a:rPr sz="1500" b="1">
                <a:solidFill>
                  <a:srgbClr val="075E52"/>
                </a:solidFill>
              </a:rPr>
              <a:t>Preparar  →  decidir  →  participar</a:t>
            </a:r>
          </a:p>
        </p:txBody>
      </p:sp>
      <p:sp>
        <p:nvSpPr>
          <p:cNvPr id="2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114CB4E4-949D-423E-B413-BF3EC1AD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CULTO+  •  FLUXO DO CULTO</a:t>
            </a:r>
          </a:p>
        </p:txBody>
      </p:sp>
      <p:sp>
        <p:nvSpPr>
          <p:cNvPr id="2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09B6916-A0AC-4152-BA3A-3804440A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652625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eyebrow-Visões por papel">
            <a:extLst xmlns:a="http://schemas.openxmlformats.org/drawingml/2006/main">
              <a:ext uri="{FF2B5EF4-FFF2-40B4-BE49-F238E27FC236}">
                <a16:creationId xmlns:a16="http://schemas.microsoft.com/office/drawing/2014/main" id="{D3617380-E3B6-4643-AE1A-417E6576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6B"/>
                </a:solidFill>
              </a:defRPr>
            </a:pPr>
            <a:r>
              <a:rPr sz="900" b="1">
                <a:solidFill>
                  <a:srgbClr val="087A6B"/>
                </a:solidFill>
              </a:rPr>
              <a:t>VISÕES POR PAPEL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469A8D-B008-408B-8657-F7F99BEE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530"/>
                </a:solidFill>
              </a:defRPr>
            </a:pPr>
            <a:r>
              <a:rPr sz="3000" b="1">
                <a:solidFill>
                  <a:srgbClr val="0B1530"/>
                </a:solidFill>
              </a:rPr>
              <a:t>Cada pessoa vê o que precisa para agir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F8FB3-246E-4ABD-BA66-511F94F3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8"/>
                </a:solidFill>
              </a:defRPr>
            </a:pPr>
            <a:r>
              <a:rPr sz="1500" b="0">
                <a:solidFill>
                  <a:srgbClr val="5E6878"/>
                </a:solidFill>
              </a:rPr>
              <a:t>Uma conta, experiências acumulativas e responsabilidades proporcionais ao papel.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0E1489-7BBF-4459-B27E-BA0B543A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2609850" cy="3371850"/>
          </a:xfrm>
          <a:prstGeom xmlns:a="http://schemas.openxmlformats.org/drawingml/2006/main" prst="roundRect">
            <a:avLst>
              <a:gd name="adj" fmla="val 5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4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65D86-A7AB-4F35-A543-9D3DE04D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26098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D2EDE-8F78-475B-800E-23F09792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58D345-72E5-4CEF-B574-A48ACD00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336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D28D9"/>
                </a:solidFill>
              </a:defRPr>
            </a:pPr>
            <a:r>
              <a:rPr sz="1275" b="1">
                <a:solidFill>
                  <a:srgbClr val="6D28D9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743DDC-F7FE-4B79-AD73-CE164250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530"/>
                </a:solidFill>
              </a:defRPr>
            </a:pPr>
            <a:r>
              <a:rPr sz="1875" b="1">
                <a:solidFill>
                  <a:srgbClr val="0B1530"/>
                </a:solidFill>
              </a:rPr>
              <a:t>Membro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DA08D5-D9F3-4D03-BFFD-C698E2F5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11811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1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5F9BE8-2EA7-45DC-9974-0D871F36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385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PARTICIPA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55E790-4B44-4F00-84F9-2239AB69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9F45FD-DDB8-4DB3-91AC-06925751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F258A7-1854-4AC0-92BC-1F8C4B29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053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Descobre o culto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B04687-F59E-4197-96A2-D310FF68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24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E4730E-919E-406C-8696-B130C82B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0E7CA0-9C85-4890-9AEE-9708550A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863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Faz check-in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315B1B-1774-4C30-862A-8A24CB44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2ECE84-ED7F-4BE0-A62E-87E85EDF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7A605D-B1C3-49F1-9F5D-FB353C95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673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Recebe cuidado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8D7019-C953-43E5-A4BB-B6B33A41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90750"/>
            <a:ext cx="2609850" cy="3371850"/>
          </a:xfrm>
          <a:prstGeom xmlns:a="http://schemas.openxmlformats.org/drawingml/2006/main" prst="roundRect">
            <a:avLst>
              <a:gd name="adj" fmla="val 5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4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74693C-10D4-4AA9-A1C2-C1C650A1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90750"/>
            <a:ext cx="26098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2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930F15-0DD1-403B-9CB4-8FDD93D8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71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A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1D6A31-724C-4783-A5B2-CBF213FD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336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2D6F"/>
                </a:solidFill>
              </a:defRPr>
            </a:pPr>
            <a:r>
              <a:rPr sz="1275" b="1">
                <a:solidFill>
                  <a:srgbClr val="D92D6F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1A79B3-C031-44DF-8578-CEE7B316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14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530"/>
                </a:solidFill>
              </a:defRPr>
            </a:pPr>
            <a:r>
              <a:rPr sz="1875" b="1">
                <a:solidFill>
                  <a:srgbClr val="0B1530"/>
                </a:solidFill>
              </a:rPr>
              <a:t>Voluntário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DE6E2D-6776-454C-BCE2-786DC9E4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71900"/>
            <a:ext cx="11811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DEA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4637BD-1F35-430E-876D-B5262CCD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8385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2D6F"/>
                </a:solidFill>
              </a:defRPr>
            </a:pPr>
            <a:r>
              <a:rPr sz="975" b="1">
                <a:solidFill>
                  <a:srgbClr val="D92D6F"/>
                </a:solidFill>
              </a:rPr>
              <a:t>RESPONDE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DEEA2C-A3AA-4D5C-B828-9F7C4BF1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43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708BA5-ACCF-43D0-99C7-53B027DF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6245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F1E8F0-E0B3-4CFC-A569-386FD353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3053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Aceita convites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3C9170-1C10-4200-9BF1-6126CB2A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24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17C95A-A1CF-47B4-94F0-0F390A27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4345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A6B19E-2813-43F4-B56C-AD0BF31F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6863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Confirma escala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6FAE9B-AB41-45E5-A2B9-EDEDD41A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105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6B4040-EE3B-40B4-B1FB-F2939E3F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12445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C24014-E584-44E3-8848-3190ABC3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0673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Vê sua função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62D587-88FF-40C5-AEC3-3A0BE4BB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90750"/>
            <a:ext cx="2609850" cy="3371850"/>
          </a:xfrm>
          <a:prstGeom xmlns:a="http://schemas.openxmlformats.org/drawingml/2006/main" prst="roundRect">
            <a:avLst>
              <a:gd name="adj" fmla="val 5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4D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AF4DA5-F70A-43B1-A00D-F1F73A81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90750"/>
            <a:ext cx="26098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E5941F-F116-457F-A45E-6A33F2CF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71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E4FAA9-D8DE-4BC7-9EE5-540A8B12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336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59A2F"/>
                </a:solidFill>
              </a:defRPr>
            </a:pPr>
            <a:r>
              <a:rPr sz="1275" b="1">
                <a:solidFill>
                  <a:srgbClr val="E59A2F"/>
                </a:solidFill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1D7721-BC3D-4C35-AE42-253B5A33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14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530"/>
                </a:solidFill>
              </a:defRPr>
            </a:pPr>
            <a:r>
              <a:rPr sz="1875" b="1">
                <a:solidFill>
                  <a:srgbClr val="0B1530"/>
                </a:solidFill>
              </a:rPr>
              <a:t>Líder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6C76A3-E14D-422F-9C33-E4222C42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71900"/>
            <a:ext cx="11811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F2B6D5-6D07-4A9C-8CD1-46E3E720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385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59A2F"/>
                </a:solidFill>
              </a:defRPr>
            </a:pPr>
            <a:r>
              <a:rPr sz="975" b="1">
                <a:solidFill>
                  <a:srgbClr val="E59A2F"/>
                </a:solidFill>
              </a:rPr>
              <a:t>COORDENA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79D7D1-E1D4-4C79-A85E-224B5B32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43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1502035-6C24-41E9-84ED-D7B4D158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6245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620C6E3-F543-4E3A-A2AD-97CDCE60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053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Convida pessoas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6C744B5-1C6B-462E-B6E5-4ADB2408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24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A4A86D6-9142-4A18-A0A4-0F6F9CFE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4345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988AE0F-4532-4EFF-BA8B-F0FC2CA1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863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Acompanha equipe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33D755D-C0C3-482C-8786-F8E4D46A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105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496E86F-FDD7-4F25-BD45-74045791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12445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8B1F9B4-C75D-47D3-8F74-2110C114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0673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Resolve ausências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C70FE7-45C1-4830-BEAE-4AF9DB9B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90750"/>
            <a:ext cx="2609850" cy="3371850"/>
          </a:xfrm>
          <a:prstGeom xmlns:a="http://schemas.openxmlformats.org/drawingml/2006/main" prst="roundRect">
            <a:avLst>
              <a:gd name="adj" fmla="val 5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4D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000605D-3374-4A9E-AE00-224516FD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90750"/>
            <a:ext cx="26098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9370964-4E87-4F03-AFC0-ED670B0F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71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DE78459-681C-4EED-A867-0132C664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336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7A6B"/>
                </a:solidFill>
              </a:defRPr>
            </a:pPr>
            <a:r>
              <a:rPr sz="1275" b="1">
                <a:solidFill>
                  <a:srgbClr val="087A6B"/>
                </a:solidFill>
              </a:rPr>
              <a:t>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BB96A5A-1630-4D5C-85F4-1FBA065F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14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530"/>
                </a:solidFill>
              </a:defRPr>
            </a:pPr>
            <a:r>
              <a:rPr sz="1875" b="1">
                <a:solidFill>
                  <a:srgbClr val="0B1530"/>
                </a:solidFill>
              </a:rPr>
              <a:t>Gestor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5981505-FD05-457D-B509-AA0D6864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771900"/>
            <a:ext cx="11811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CE3AD22-9966-49D1-8F65-15442CF1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385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7A6B"/>
                </a:solidFill>
              </a:defRPr>
            </a:pPr>
            <a:r>
              <a:rPr sz="975" b="1">
                <a:solidFill>
                  <a:srgbClr val="087A6B"/>
                </a:solidFill>
              </a:rPr>
              <a:t>CONCLUI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02C548B-3798-429E-BA1B-0FECF8FC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343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C454B77-5676-4ABC-B497-BCC1F116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36245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0A0A570-2876-4549-ACE0-557187DA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3053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Vê indicadores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0A74C01-27C3-42A6-A69C-E8B6FC56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724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9BB63AE-829D-4004-94B5-6A90ACE4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74345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596944E-795A-4241-9CB9-840CD062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6863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Decide aprovações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38F12FE-19CA-42FA-8422-CCAD2199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105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4C2A7FF-F452-469D-A4E4-1398CFBC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12445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C64C6C0-CC51-4398-A344-8422B333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0673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Fecha pendências</a:t>
            </a:r>
          </a:p>
        </p:txBody>
      </p:sp>
      <p:sp>
        <p:nvSpPr>
          <p:cNvPr id="6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085FC3A7-BB00-4A28-A014-908A34D0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CULTO+  •  FLUXO DO CULTO</a:t>
            </a:r>
          </a:p>
        </p:txBody>
      </p:sp>
      <p:sp>
        <p:nvSpPr>
          <p:cNvPr id="6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C504D98-817B-418E-8E40-5BB4ED49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045203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63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brand-logo-surface">
            <a:extLst xmlns:a="http://schemas.openxmlformats.org/drawingml/2006/main">
              <a:ext uri="{FF2B5EF4-FFF2-40B4-BE49-F238E27FC236}">
                <a16:creationId xmlns:a16="http://schemas.microsoft.com/office/drawing/2014/main" id="{2E3B0EE8-6024-4D00-BE0E-AB52A345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714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c07ca83a514c2c"/>
          <a:stretch xmlns:a="http://schemas.openxmlformats.org/drawingml/2006/main"/>
        </p:blipFill>
        <p:spPr>
          <a:xfrm xmlns:a="http://schemas.openxmlformats.org/drawingml/2006/main">
            <a:off x="723900" y="323850"/>
            <a:ext cx="1257300" cy="628650"/>
          </a:xfrm>
          <a:prstGeom xmlns:a="http://schemas.openxmlformats.org/drawingml/2006/main" prst="rect">
            <a:avLst/>
          </a:prstGeom>
        </p:spPr>
      </p:pic>
      <p:sp>
        <p:nvSpPr>
          <p:cNvPr id="3" name="eyebrow-Próximo passo">
            <a:extLst xmlns:a="http://schemas.openxmlformats.org/drawingml/2006/main">
              <a:ext uri="{FF2B5EF4-FFF2-40B4-BE49-F238E27FC236}">
                <a16:creationId xmlns:a16="http://schemas.microsoft.com/office/drawing/2014/main" id="{85D7281D-5703-4FF3-AEE2-098D2923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ED4CA"/>
                </a:solidFill>
              </a:defRPr>
            </a:pPr>
            <a:r>
              <a:rPr sz="900" b="1">
                <a:solidFill>
                  <a:srgbClr val="9ED4CA"/>
                </a:solidFill>
              </a:rPr>
              <a:t>PRÓXIMO PASSO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C7693D-F37E-4B68-8615-CCCEB6E1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6762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O próximo culto começa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com quatro movimentos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BA48F6-7BDF-4014-9B4A-73FE5F8F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DE8E2"/>
                </a:solidFill>
              </a:defRPr>
            </a:pPr>
            <a:r>
              <a:rPr sz="1575" b="0">
                <a:solidFill>
                  <a:srgbClr val="CDE8E2"/>
                </a:solidFill>
              </a:rPr>
              <a:t>Comece simples. Deixe o status orientar a próxima ação.</a:t>
            </a:r>
          </a:p>
        </p:txBody>
      </p:sp>
      <p:sp>
        <p:nvSpPr>
          <p:cNvPr id="6" name="closing-divider">
            <a:extLst xmlns:a="http://schemas.openxmlformats.org/drawingml/2006/main">
              <a:ext uri="{FF2B5EF4-FFF2-40B4-BE49-F238E27FC236}">
                <a16:creationId xmlns:a16="http://schemas.microsoft.com/office/drawing/2014/main" id="{BE5C1734-097B-4359-A493-092712BF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676400"/>
            <a:ext cx="381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BC08D8-F11E-408D-A350-660FA99D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287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813C0A-368A-4C03-83F2-90B1728B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144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A4B5B-1C40-4558-8096-BCBD4776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382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Criar o culto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0D6AB1-089D-40CC-B78A-5917439D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430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DCD5"/>
                </a:solidFill>
              </a:defRPr>
            </a:pPr>
            <a:r>
              <a:rPr sz="1200" b="0">
                <a:solidFill>
                  <a:srgbClr val="B8DCD5"/>
                </a:solidFill>
              </a:rPr>
              <a:t>Contexto e publicação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970ECF-3C7E-4C98-9FF9-E91CC34D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336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43AFAC-A6C9-43E8-9E57-D799AFA3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1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657136-3F54-43DB-9F85-6BEA9B4D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431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Montar a operação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3D62CC-055E-4199-8184-0597133C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479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DCD5"/>
                </a:solidFill>
              </a:defRPr>
            </a:pPr>
            <a:r>
              <a:rPr sz="1200" b="0">
                <a:solidFill>
                  <a:srgbClr val="B8DCD5"/>
                </a:solidFill>
              </a:rPr>
              <a:t>Equipes, funções e pessoas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53E2B7-5861-4297-B48D-1477F939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38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C15F8C-190A-432F-8A98-DE462EB1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242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C4EABF-E83D-498C-85AD-937E4E56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480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Resolver pendências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D7DEA2-7FB4-4D78-A601-D1BFF393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528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DCD5"/>
                </a:solidFill>
              </a:defRPr>
            </a:pPr>
            <a:r>
              <a:rPr sz="1200" b="0">
                <a:solidFill>
                  <a:srgbClr val="B8DCD5"/>
                </a:solidFill>
              </a:rPr>
              <a:t>Aprovar, confirmar e ajustar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BFBBEB-35DB-4F20-AA39-D5B796B2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434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97930E-F741-44A2-B1B3-7FC637A3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291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ECD450-ED45-4661-8700-E18D47E8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529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Celebrar e cuidar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3A9127-0A83-4F41-B2F7-D19201DA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577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DCD5"/>
                </a:solidFill>
              </a:defRPr>
            </a:pPr>
            <a:r>
              <a:rPr sz="1200" b="0">
                <a:solidFill>
                  <a:srgbClr val="B8DCD5"/>
                </a:solidFill>
              </a:rPr>
              <a:t>Operação, presença e retorno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03C311-F2A9-4AFE-9268-E9C0BD14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58102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0B514A"/>
          </a:solidFill>
          <a:ln xmlns:a="http://schemas.openxmlformats.org/drawingml/2006/main" w="9525">
            <a:solidFill>
              <a:srgbClr val="2A6B6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586787-367E-4226-8519-03DB9DB7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ED4CA"/>
                </a:solidFill>
              </a:defRPr>
            </a:pPr>
            <a:r>
              <a:rPr sz="1200" b="1">
                <a:solidFill>
                  <a:srgbClr val="9ED4CA"/>
                </a:solidFill>
              </a:rPr>
              <a:t>CULTO+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3F260C-28DC-420E-97E1-23A5321C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291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Toda a igreja em movimento.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5E7E47-69B2-4CC6-B3FA-CD63A44C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95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E8E2"/>
                </a:solidFill>
              </a:defRPr>
            </a:pPr>
            <a:r>
              <a:rPr sz="1425" b="0">
                <a:solidFill>
                  <a:srgbClr val="CDE8E2"/>
                </a:solidFill>
              </a:rPr>
              <a:t>Planejar. Servir. Celebrar. Cuidar.</a:t>
            </a:r>
          </a:p>
        </p:txBody>
      </p:sp>
      <p:sp>
        <p:nvSpPr>
          <p:cNvPr id="27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1D711223-5518-4EF5-B75E-5E186B85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DCD5"/>
                </a:solidFill>
              </a:defRPr>
            </a:pPr>
            <a:r>
              <a:rPr sz="825" b="1">
                <a:solidFill>
                  <a:srgbClr val="B8DCD5"/>
                </a:solidFill>
              </a:rPr>
              <a:t>CULTO+  •  FLUXO DO CULTO</a:t>
            </a:r>
          </a:p>
        </p:txBody>
      </p:sp>
      <p:sp>
        <p:nvSpPr>
          <p:cNvPr id="2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FF48F57-0B40-4507-9CE8-56AFD83B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8DCD5"/>
                </a:solidFill>
              </a:defRPr>
            </a:pPr>
            <a:r>
              <a:rPr sz="825" b="1">
                <a:solidFill>
                  <a:srgbClr val="B8DCD5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982400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2026-07-20T23:55:07.0950000Z</dcterms:created>
  <dcterms:modified xsi:type="dcterms:W3CDTF">2026-07-20T23:55:07.0950000Z</dcterms:modified>
</coreProperties>
</file>