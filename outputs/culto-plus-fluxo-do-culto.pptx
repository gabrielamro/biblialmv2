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d89bc4f7c46df" /><Relationship Type="http://schemas.openxmlformats.org/officeDocument/2006/relationships/extended-properties" Target="/docProps/app.xml" Id="Re513df73e0fc4a36" /><Relationship Type="http://schemas.openxmlformats.org/officeDocument/2006/relationships/officeDocument" Target="/ppt/presentation.xml" Id="R5c0b82923c74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5ae567663447f"/>
  </p:sldMasterIdLst>
  <p:notesMasterIdLst>
    <p:notesMasterId xmlns:r="http://schemas.openxmlformats.org/officeDocument/2006/relationships" r:id="R7a0dbc6283794d72"/>
  </p:notesMasterIdLst>
  <p:sldIdLst>
    <p:sldId xmlns:r="http://schemas.openxmlformats.org/officeDocument/2006/relationships" id="256" r:id="R1bfd04f84ede40a0"/>
    <p:sldId xmlns:r="http://schemas.openxmlformats.org/officeDocument/2006/relationships" id="257" r:id="R117a84c8a63e4f9e"/>
    <p:sldId xmlns:r="http://schemas.openxmlformats.org/officeDocument/2006/relationships" id="258" r:id="R8d6bf0b370bb4357"/>
    <p:sldId xmlns:r="http://schemas.openxmlformats.org/officeDocument/2006/relationships" id="259" r:id="R16c7b2d8b9814c90"/>
    <p:sldId xmlns:r="http://schemas.openxmlformats.org/officeDocument/2006/relationships" id="260" r:id="Ra695a07cb4ae4f13"/>
    <p:sldId xmlns:r="http://schemas.openxmlformats.org/officeDocument/2006/relationships" id="261" r:id="R483fb215b9fa4806"/>
    <p:sldId xmlns:r="http://schemas.openxmlformats.org/officeDocument/2006/relationships" id="262" r:id="R9ec766fa246a402c"/>
    <p:sldId xmlns:r="http://schemas.openxmlformats.org/officeDocument/2006/relationships" id="263" r:id="R264046bc765f4e56"/>
    <p:sldId xmlns:r="http://schemas.openxmlformats.org/officeDocument/2006/relationships" id="264" r:id="Ra26c94e3197246b0"/>
    <p:sldId xmlns:r="http://schemas.openxmlformats.org/officeDocument/2006/relationships" id="265" r:id="Re0d21d363ac041b1"/>
    <p:sldId xmlns:r="http://schemas.openxmlformats.org/officeDocument/2006/relationships" id="266" r:id="R48d397f739814863"/>
    <p:sldId xmlns:r="http://schemas.openxmlformats.org/officeDocument/2006/relationships" id="267" r:id="R1da59ece74db48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49d8c11df4b83" /><Relationship Type="http://schemas.openxmlformats.org/officeDocument/2006/relationships/slideMaster" Target="/ppt/slideMasters/slideMaster1.xml" Id="Ra8a5ae567663447f" /><Relationship Type="http://schemas.openxmlformats.org/officeDocument/2006/relationships/notesMaster" Target="/ppt/notesMasters/notesMaster1.xml" Id="R7a0dbc6283794d72" /><Relationship Type="http://schemas.openxmlformats.org/officeDocument/2006/relationships/presProps" Target="/ppt/presProps.xml" Id="Re12cd4979b404204" /><Relationship Type="http://schemas.openxmlformats.org/officeDocument/2006/relationships/tableStyles" Target="/ppt/tableStyles.xml" Id="R9911a88af11142ad" /><Relationship Type="http://schemas.openxmlformats.org/officeDocument/2006/relationships/slide" Target="/ppt/slides/slide1.xml" Id="R1bfd04f84ede40a0" /><Relationship Type="http://schemas.openxmlformats.org/officeDocument/2006/relationships/slide" Target="/ppt/slides/slide2.xml" Id="R117a84c8a63e4f9e" /><Relationship Type="http://schemas.openxmlformats.org/officeDocument/2006/relationships/slide" Target="/ppt/slides/slide3.xml" Id="R8d6bf0b370bb4357" /><Relationship Type="http://schemas.openxmlformats.org/officeDocument/2006/relationships/slide" Target="/ppt/slides/slide4.xml" Id="R16c7b2d8b9814c90" /><Relationship Type="http://schemas.openxmlformats.org/officeDocument/2006/relationships/slide" Target="/ppt/slides/slide5.xml" Id="Ra695a07cb4ae4f13" /><Relationship Type="http://schemas.openxmlformats.org/officeDocument/2006/relationships/slide" Target="/ppt/slides/slide6.xml" Id="R483fb215b9fa4806" /><Relationship Type="http://schemas.openxmlformats.org/officeDocument/2006/relationships/slide" Target="/ppt/slides/slide7.xml" Id="R9ec766fa246a402c" /><Relationship Type="http://schemas.openxmlformats.org/officeDocument/2006/relationships/slide" Target="/ppt/slides/slide8.xml" Id="R264046bc765f4e56" /><Relationship Type="http://schemas.openxmlformats.org/officeDocument/2006/relationships/slide" Target="/ppt/slides/slide9.xml" Id="Ra26c94e3197246b0" /><Relationship Type="http://schemas.openxmlformats.org/officeDocument/2006/relationships/slide" Target="/ppt/slides/slide10.xml" Id="Re0d21d363ac041b1" /><Relationship Type="http://schemas.openxmlformats.org/officeDocument/2006/relationships/slide" Target="/ppt/slides/slide11.xml" Id="R48d397f739814863" /><Relationship Type="http://schemas.openxmlformats.org/officeDocument/2006/relationships/slide" Target="/ppt/slides/slide12.xml" Id="R1da59ece74db48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5ec5314c3847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098c3d57ea404c" /><Relationship Type="http://schemas.openxmlformats.org/officeDocument/2006/relationships/notesMaster" Target="/ppt/notesMasters/notesMaster1.xml" Id="R1eb1be74780248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08bea7825f47de" /><Relationship Type="http://schemas.openxmlformats.org/officeDocument/2006/relationships/notesMaster" Target="/ppt/notesMasters/notesMaster1.xml" Id="R2563fa21ed2e4c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b8d59d91fa4156" /><Relationship Type="http://schemas.openxmlformats.org/officeDocument/2006/relationships/notesMaster" Target="/ppt/notesMasters/notesMaster1.xml" Id="R30c5d00fc4364f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0d17f1d4e423f" /><Relationship Type="http://schemas.openxmlformats.org/officeDocument/2006/relationships/notesMaster" Target="/ppt/notesMasters/notesMaster1.xml" Id="R7980ed53eea44b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b49dc883c144cc" /><Relationship Type="http://schemas.openxmlformats.org/officeDocument/2006/relationships/notesMaster" Target="/ppt/notesMasters/notesMaster1.xml" Id="Rfc651e605a5146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46e8fdcb9e4aab" /><Relationship Type="http://schemas.openxmlformats.org/officeDocument/2006/relationships/notesMaster" Target="/ppt/notesMasters/notesMaster1.xml" Id="R1ebf764a70ed45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cd5d02bea14d60" /><Relationship Type="http://schemas.openxmlformats.org/officeDocument/2006/relationships/notesMaster" Target="/ppt/notesMasters/notesMaster1.xml" Id="R8203009b942149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21897ff424755" /><Relationship Type="http://schemas.openxmlformats.org/officeDocument/2006/relationships/notesMaster" Target="/ppt/notesMasters/notesMaster1.xml" Id="R9ddc51dc51424a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f13b2185794c2f" /><Relationship Type="http://schemas.openxmlformats.org/officeDocument/2006/relationships/notesMaster" Target="/ppt/notesMasters/notesMaster1.xml" Id="R96b03465a26d46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94b78364d34d0d" /><Relationship Type="http://schemas.openxmlformats.org/officeDocument/2006/relationships/notesMaster" Target="/ppt/notesMasters/notesMaster1.xml" Id="Ra252022df7554e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145fe4f98e4397" /><Relationship Type="http://schemas.openxmlformats.org/officeDocument/2006/relationships/notesMaster" Target="/ppt/notesMasters/notesMaster1.xml" Id="Re6b1cb945a5845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545c872f884fab" /><Relationship Type="http://schemas.openxmlformats.org/officeDocument/2006/relationships/notesMaster" Target="/ppt/notesMasters/notesMaster1.xml" Id="R0a84630acc2e4f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b285e1d3a4e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d177c36e34ac6" /><Relationship Type="http://schemas.openxmlformats.org/officeDocument/2006/relationships/slideLayout" Target="/ppt/slideLayouts/slideLayout1.xml" Id="Rdeb086466949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086466949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c132c5be44618" /><Relationship Type="http://schemas.openxmlformats.org/officeDocument/2006/relationships/image" Target="/ppt/media/image.png" Id="R63610f26e0214494" /><Relationship Type="http://schemas.openxmlformats.org/officeDocument/2006/relationships/notesSlide" Target="/ppt/notesSlides/notesSlide1.xml" Id="R6776f216b3ea46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288ae8de1472a" /><Relationship Type="http://schemas.openxmlformats.org/officeDocument/2006/relationships/notesSlide" Target="/ppt/notesSlides/notesSlide2.xml" Id="Rf946efdc7c044a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fbb7c2dab46db" /><Relationship Type="http://schemas.openxmlformats.org/officeDocument/2006/relationships/notesSlide" Target="/ppt/notesSlides/notesSlide3.xml" Id="R75740d14bd0743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5b9c6ef8f40d4" /><Relationship Type="http://schemas.openxmlformats.org/officeDocument/2006/relationships/notesSlide" Target="/ppt/notesSlides/notesSlide4.xml" Id="R40658e56a34e42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373d4953a4659" /><Relationship Type="http://schemas.openxmlformats.org/officeDocument/2006/relationships/notesSlide" Target="/ppt/notesSlides/notesSlide5.xml" Id="Rfa276667d6a643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d117d5398440b" /><Relationship Type="http://schemas.openxmlformats.org/officeDocument/2006/relationships/notesSlide" Target="/ppt/notesSlides/notesSlide6.xml" Id="Ra1ccd85e579d42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10d100912406d" /><Relationship Type="http://schemas.openxmlformats.org/officeDocument/2006/relationships/notesSlide" Target="/ppt/notesSlides/notesSlide7.xml" Id="Rdcc35451bd14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7ddf8c1894621" /><Relationship Type="http://schemas.openxmlformats.org/officeDocument/2006/relationships/notesSlide" Target="/ppt/notesSlides/notesSlide8.xml" Id="R20482d262e944c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0bc18a20a4a40" /><Relationship Type="http://schemas.openxmlformats.org/officeDocument/2006/relationships/notesSlide" Target="/ppt/notesSlides/notesSlide9.xml" Id="Rbc1412824f5e44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06805775746ce" /><Relationship Type="http://schemas.openxmlformats.org/officeDocument/2006/relationships/notesSlide" Target="/ppt/notesSlides/notesSlide10.xml" Id="R9fe04e1e96394e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d342640f043e1" /><Relationship Type="http://schemas.openxmlformats.org/officeDocument/2006/relationships/notesSlide" Target="/ppt/notesSlides/notesSlide11.xml" Id="R5cba346343424d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25da41dd4ec3" /><Relationship Type="http://schemas.openxmlformats.org/officeDocument/2006/relationships/image" Target="/ppt/media/image2.png" Id="Rb9650bb971744351" /><Relationship Type="http://schemas.openxmlformats.org/officeDocument/2006/relationships/notesSlide" Target="/ppt/notesSlides/notesSlide12.xml" Id="Rbc80f7e98410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8CC66-73DB-466C-ADF2-F2CF0CB8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4229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4BD9D-9C17-4C46-B04E-1FC3CBAB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10f26e0214494"/>
          <a:stretch xmlns:a="http://schemas.openxmlformats.org/drawingml/2006/main"/>
        </p:blipFill>
        <p:spPr>
          <a:xfrm xmlns:a="http://schemas.openxmlformats.org/drawingml/2006/main">
            <a:off x="723900" y="342900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3339F-368B-478A-AC52-EAAC7E18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15149-4CA1-45FE-A62E-2D630540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5E52"/>
                </a:solidFill>
              </a:defRPr>
            </a:pPr>
            <a:r>
              <a:rPr sz="975" b="1">
                <a:solidFill>
                  <a:srgbClr val="075E52"/>
                </a:solidFill>
              </a:rPr>
              <a:t>APRESENTAÇÃO DE FLUXO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9F9915A-7228-4283-9391-F70B1EAF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381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B1530"/>
                </a:solidFill>
              </a:defRPr>
            </a:pPr>
            <a:r>
              <a:rPr sz="4350" b="1">
                <a:solidFill>
                  <a:srgbClr val="0B1530"/>
                </a:solidFill>
              </a:rPr>
              <a:t>Culto do zero</a:t>
            </a:r>
          </a:p>
          <a:p xmlns:a="http://schemas.openxmlformats.org/drawingml/2006/main">
            <a:pPr algn="l">
              <a:defRPr sz="4350" b="1">
                <a:solidFill>
                  <a:srgbClr val="0B1530"/>
                </a:solidFill>
              </a:defRPr>
            </a:pPr>
            <a:r>
              <a:rPr sz="4350" b="1">
                <a:solidFill>
                  <a:srgbClr val="0B1530"/>
                </a:solidFill>
              </a:rPr>
              <a:t>ao cuidado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471ED-6695-4E9F-8C3A-56C90BA1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601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878"/>
                </a:solidFill>
              </a:defRPr>
            </a:pPr>
            <a:r>
              <a:rPr sz="1800" b="0">
                <a:solidFill>
                  <a:srgbClr val="5E6878"/>
                </a:solidFill>
              </a:rPr>
              <a:t>Como o Culto+ conecta planejamento, equipes, experiência e acompanhamento em um único ciclo.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7515C-C74C-40DD-A7B0-75FE418D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A6B"/>
                </a:solidFill>
              </a:defRPr>
            </a:pPr>
            <a:r>
              <a:rPr sz="1500" b="1">
                <a:solidFill>
                  <a:srgbClr val="087A6B"/>
                </a:solidFill>
              </a:rPr>
              <a:t>Toda a igreja em movimento.</a:t>
            </a:r>
          </a:p>
        </p:txBody>
      </p:sp>
      <p:sp>
        <p:nvSpPr>
          <p:cNvPr id="9" name="cover-flow-line">
            <a:extLst xmlns:a="http://schemas.openxmlformats.org/drawingml/2006/main">
              <a:ext uri="{FF2B5EF4-FFF2-40B4-BE49-F238E27FC236}">
                <a16:creationId xmlns:a16="http://schemas.microsoft.com/office/drawing/2014/main" id="{9B66BECE-A431-437F-9984-04DFD92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23950"/>
            <a:ext cx="3810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38E8B-2403-4D85-9959-FA9C13C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9906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21997-4D59-4EBB-90BC-E8F9B577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858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B7D6C-9385-4F08-BE42-8F3110D7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62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4E516-06D5-4B0A-BB6C-8A81DE4F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23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Planejar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FB050-C489-4548-9651-6EC13B8D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9812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A9B1B-968D-419D-AF44-C261B2B7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76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F2888-5EF2-4DD4-BD67-5359F5B1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52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F5190-D5F2-4D94-8478-07AE1952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Preparar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555844-405F-4364-ACC7-AA3DD5AE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308F0-CB1D-414C-A2EE-74FC8427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FD679-7DF6-4AAF-8C1B-1810FA22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A1660-DCDB-4073-BDB4-2FDC7124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051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Escalar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7C83C-4A5F-43CD-BE92-CF02F1F2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4CE03E-6B8B-4E67-B188-F55FCFC6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576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8A17DA-336F-4A91-A33C-CF23B014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33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433078-23A2-43BB-A451-0A6A0BB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957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Celebrar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44D0F5-35CB-4F4B-9961-31B46E44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53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19050">
            <a:solidFill>
              <a:srgbClr val="DDF4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C54586-9C95-43A2-8C96-3D719210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48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7D907-D9AE-4044-A5BC-FD639BD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24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397962-7137-4C18-815C-7DAC2575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863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Cuidar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0169E9-F2D2-4309-9F92-B702BB2F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1980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8DCD5"/>
                </a:solidFill>
              </a:defRPr>
            </a:pPr>
            <a:r>
              <a:rPr sz="975" b="1">
                <a:solidFill>
                  <a:srgbClr val="B8DCD5"/>
                </a:solidFill>
              </a:rPr>
              <a:t>CULTO+</a:t>
            </a:r>
          </a:p>
        </p:txBody>
      </p:sp>
    </p:spTree>
    <p:extLst>
      <p:ext uri="{BB962C8B-B14F-4D97-AF65-F5344CB8AC3E}">
        <p14:creationId xmlns:p14="http://schemas.microsoft.com/office/powerpoint/2010/main" val="1929112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-Visão geral">
            <a:extLst xmlns:a="http://schemas.openxmlformats.org/drawingml/2006/main">
              <a:ext uri="{FF2B5EF4-FFF2-40B4-BE49-F238E27FC236}">
                <a16:creationId xmlns:a16="http://schemas.microsoft.com/office/drawing/2014/main" id="{CE52C40A-1A94-4F2A-B207-E44624CB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VISÃO GERAL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17A1AC-2CF5-4F12-BFA4-998E5840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530"/>
                </a:solidFill>
              </a:defRPr>
            </a:pPr>
            <a:r>
              <a:rPr sz="2850" b="1">
                <a:solidFill>
                  <a:srgbClr val="0B1530"/>
                </a:solidFill>
              </a:rPr>
              <a:t>Um culto é um ciclo — não um evento isolado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86192-7BAA-48A4-92C7-9FEAFBC1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valor aparece quando cada etapa prepara a próxima e deixa claro quem precisa agir.</a:t>
            </a:r>
          </a:p>
        </p:txBody>
      </p:sp>
      <p:sp>
        <p:nvSpPr>
          <p:cNvPr id="4" name="lifecycle-connector">
            <a:extLst xmlns:a="http://schemas.openxmlformats.org/drawingml/2006/main">
              <a:ext uri="{FF2B5EF4-FFF2-40B4-BE49-F238E27FC236}">
                <a16:creationId xmlns:a16="http://schemas.microsoft.com/office/drawing/2014/main" id="{2BFAF9B0-BA62-4110-90D6-6EA2F891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C64EE-58A8-4ECE-A045-8902BF5B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6C110-6336-4F2E-AFA8-8BED320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C1AEE-74D8-401B-B077-965C9E9C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2CD25-C61E-4BF5-886C-216BF23D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Definir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629ED-2DCF-42F5-AD82-AF811A44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Data, propósito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formato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F906B-F8DC-43A3-8516-397C2A15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C8127-4961-439C-9A83-4BF07C1F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0D1D7-6A69-4E21-ADBB-B9F2EB14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12FEA-6FE5-45F8-B56D-AC121889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Preparar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6E166-7982-4813-BB4B-40138C02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Conteúdo, liturgia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acesso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CA90B-01CE-4632-BD61-3EA125FF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8E863-5908-4EEB-9D31-F1CD834B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BE629-F076-41AB-8501-6E6ECC8B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FBB5E-EFB6-4A08-A273-B3E3565F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Organizar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62B2B-2386-4FB4-A553-17E9C96A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Equipes, funções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responsáveis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BDA47-96C7-4995-8D50-F8870C2F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F99D6-0C80-44C6-A727-DEFD2EEE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22972-D2A8-4940-8535-3A6270DD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E45FF-E4BE-4EBD-AB92-4D02F9BB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Confirmar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B58CD-B57A-4488-8831-1B3FC327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Convites, respostas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aprovações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75BD73-C1E0-4A66-AB56-F2B267A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FC4458-C82F-4BF6-9ECE-4015DA2B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DF7A6-B43C-45A3-B9BA-A88533CD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34D47F-71CA-406F-9CC6-807E2202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Celebrar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30221-B102-4D9D-8302-011FCC5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Operação e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experiência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66CDFD-5F53-4BA7-8B85-B6A22186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781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1726D5-3288-4AE9-916D-4A05A550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B2CFA8-4C42-4B9E-B3FF-0F7194B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68FA0B-5C26-408D-9197-572C1EF7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433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Acompanhar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114EA6-9EF2-4D77-A199-CF2E5B2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243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Presença, retorno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e cuidado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D88B41-0CC3-4A31-BB31-0CD7D46F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72100"/>
            <a:ext cx="82677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69A777-BD35-4D60-A1D6-C4993340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543550"/>
            <a:ext cx="765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 fluxo termina quando o culto gera contexto para o próximo cuidado.</a:t>
            </a:r>
          </a:p>
        </p:txBody>
      </p:sp>
      <p:sp>
        <p:nvSpPr>
          <p:cNvPr id="3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6540011A-F5BC-462D-8015-67728BA6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6B62198-4413-442A-A1F4-51989D6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75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BB85D4-1DA7-4FB5-A92D-2E16435D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4648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Etapa 1 • Planejar">
            <a:extLst xmlns:a="http://schemas.openxmlformats.org/drawingml/2006/main">
              <a:ext uri="{FF2B5EF4-FFF2-40B4-BE49-F238E27FC236}">
                <a16:creationId xmlns:a16="http://schemas.microsoft.com/office/drawing/2014/main" id="{974931AF-85C9-42F9-B1CE-70F2B223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1 • PLANEJAR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3883E-C5DD-4F4D-9281-BE37535F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191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530"/>
                </a:solidFill>
              </a:defRPr>
            </a:pPr>
            <a:r>
              <a:rPr sz="3150" b="1">
                <a:solidFill>
                  <a:srgbClr val="0B1530"/>
                </a:solidFill>
              </a:rPr>
              <a:t>Tudo começa com um culto bem definido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5C138-298C-45E9-810E-FBB87E60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00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878"/>
                </a:solidFill>
              </a:defRPr>
            </a:pPr>
            <a:r>
              <a:rPr sz="1650" b="0">
                <a:solidFill>
                  <a:srgbClr val="5E6878"/>
                </a:solidFill>
              </a:rPr>
              <a:t>Criar o culto é registrar contexto suficiente para pessoas, equipes e público avançarem sem adivinhação.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9BD56-A96E-4F1C-9642-8AC7914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343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E8E2F6"/>
                </a:solidFill>
              </a:defRPr>
            </a:pPr>
            <a:r>
              <a:rPr sz="8400" b="1">
                <a:solidFill>
                  <a:srgbClr val="E8E2F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FC1CA-81F4-4E82-83E3-D5BB7FAE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4514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530"/>
                </a:solidFill>
              </a:defRPr>
            </a:pPr>
            <a:r>
              <a:rPr sz="2100" b="1">
                <a:solidFill>
                  <a:srgbClr val="0B1530"/>
                </a:solidFill>
              </a:rPr>
              <a:t>A data abre o calendário.</a:t>
            </a:r>
          </a:p>
          <a:p xmlns:a="http://schemas.openxmlformats.org/drawingml/2006/main">
            <a:pPr algn="l">
              <a:defRPr sz="2100" b="1">
                <a:solidFill>
                  <a:srgbClr val="0B1530"/>
                </a:solidFill>
              </a:defRPr>
            </a:pPr>
            <a:r>
              <a:rPr sz="2100" b="1">
                <a:solidFill>
                  <a:srgbClr val="0B1530"/>
                </a:solidFill>
              </a:rPr>
              <a:t>O propósito orienta as decisões.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449AF-2ADE-4FE2-82E9-C76CB976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30670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E3CBD-2069-4F70-83D8-3CA4380A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5E52"/>
                </a:solidFill>
              </a:defRPr>
            </a:pPr>
            <a:r>
              <a:rPr sz="975" b="1">
                <a:solidFill>
                  <a:srgbClr val="075E52"/>
                </a:solidFill>
              </a:rPr>
              <a:t>RESULTADO: UM CULTO PUBLICÁVEL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32F81-5A13-4F76-8FCE-FD91B42A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04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Contexto mínimo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F5F3F-7BEB-4091-89C6-928E0F30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A65FD-3A5F-4FE2-BE29-95A73711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3716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53C61E-7233-4EE2-AA89-048F0764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238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Identidade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8FA4C-ED2A-449E-9BA5-5C94DBB2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144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Nome, tema e propósito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80066-3C2E-4F72-B1D3-E228D81D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33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2C0C1-0B8F-4C9E-B744-197F884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87B0F-2AA3-4BB1-A7B8-DEB5ADB5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Quando e onde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8002A3-AFA6-4DDD-A248-A8D6B2DB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907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Data, horário, local e formato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93A068-F7F0-40B4-90C0-CFDB5B95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85E0C-4B8C-42A3-BB65-B393AE14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242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83D74-FEEC-4775-AF77-BDCE2426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90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Conteúdo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492C5-A5BF-47A3-AE19-F249E44A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670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Liturgia, texto-base e momentos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6D33B-1F92-4799-BAF3-FBBFA9CF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A3DF0-95A9-4995-9649-B0BFA80F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90461-00FD-492A-9059-8AFADF39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671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Acesso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5572B-A34F-4A6D-9668-C8C23954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433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Link online, QR Code e publicação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C9C72-DCDF-433C-B84D-5D896AC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62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F2498-050C-4719-8B22-C3205C74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768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D5A458-07E1-44B7-9B8E-1DA660FE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434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Responsável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C415A-112F-4AA9-AAA2-9FF32E1F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019675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Quem decide e acompanha</a:t>
            </a:r>
          </a:p>
        </p:txBody>
      </p:sp>
      <p:sp>
        <p:nvSpPr>
          <p:cNvPr id="3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0475644-A15C-46C4-B98D-C7A0AA4A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1E0FA0-5FDA-4728-AA6F-324D08B8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9695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Etapa 2 • Organizar">
            <a:extLst xmlns:a="http://schemas.openxmlformats.org/drawingml/2006/main">
              <a:ext uri="{FF2B5EF4-FFF2-40B4-BE49-F238E27FC236}">
                <a16:creationId xmlns:a16="http://schemas.microsoft.com/office/drawing/2014/main" id="{B5D5C47D-AF9B-458C-94CC-5FB6C82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2 • ORGANIZAR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5CA85-4636-4A23-BB4F-C292CC6B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Equipe cadastrada não significa voluntário escalado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19402-CE9C-4D3E-9905-960F55C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Separar estrutura permanente de participação no culto evita mensagens falsas de conclusão.</a:t>
            </a:r>
          </a:p>
        </p:txBody>
      </p:sp>
      <p:sp>
        <p:nvSpPr>
          <p:cNvPr id="4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08664FFA-A0F5-429B-BF17-BC8FB77E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381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AF594-3162-4748-ABF8-A6F5413D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8196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9525">
            <a:solidFill>
              <a:srgbClr val="E2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5D266-7A0C-44D1-9BB6-B2835753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8196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9D904-8D99-4831-B39D-C3C801E9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47F35-4CBA-4891-9052-63740B74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0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02757-7673-4658-999E-45874381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530"/>
                </a:solidFill>
              </a:defRPr>
            </a:pPr>
            <a:r>
              <a:rPr sz="2250" b="1">
                <a:solidFill>
                  <a:srgbClr val="0B1530"/>
                </a:solidFill>
              </a:rPr>
              <a:t>Equipe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D23AB-02E0-4D36-A39F-F0C63A0D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0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28D9"/>
                </a:solidFill>
              </a:defRPr>
            </a:pPr>
            <a:r>
              <a:rPr sz="1350" b="1">
                <a:solidFill>
                  <a:srgbClr val="6D28D9"/>
                </a:solidFill>
              </a:rPr>
              <a:t>Estrutura que permanece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39A41-5462-4001-AFA9-F97D06C5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3771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Nome e propósito do time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Funções disponíveis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Líder principal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Pessoas vinculadas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73E11-2FF3-451C-BCF1-ADC6404D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2076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8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35414-82F8-4A2B-8B37-02001FC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847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EXISTE ENTRE CULTOS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85797-145F-41F6-AB99-7E9071E8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19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92D347-C978-44D7-8CD1-D7F1C243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0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265C1-4588-46FE-B7EC-3A478AB3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19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530"/>
                </a:solidFill>
              </a:defRPr>
            </a:pPr>
            <a:r>
              <a:rPr sz="2250" b="1">
                <a:solidFill>
                  <a:srgbClr val="0B1530"/>
                </a:solidFill>
              </a:rPr>
              <a:t>Escala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CEE5C-22A5-4515-B1F1-ABC55A6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800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A6B"/>
                </a:solidFill>
              </a:defRPr>
            </a:pPr>
            <a:r>
              <a:rPr sz="1350" b="1">
                <a:solidFill>
                  <a:srgbClr val="087A6B"/>
                </a:solidFill>
              </a:rPr>
              <a:t>Participação em uma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E04ADD-C7F1-4A81-8725-36ABD269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71850"/>
            <a:ext cx="37719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Culto específico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Função naquele culto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Convite e confirmação</a:t>
            </a:r>
          </a:p>
          <a:p xmlns:a="http://schemas.openxmlformats.org/drawingml/2006/main">
            <a:pPr algn="l">
              <a:defRPr sz="1575" b="0">
                <a:solidFill>
                  <a:srgbClr val="5E6878"/>
                </a:solidFill>
              </a:defRPr>
            </a:pPr>
            <a:r>
              <a:rPr sz="1575" b="0">
                <a:solidFill>
                  <a:srgbClr val="5E6878"/>
                </a:solidFill>
              </a:rPr>
              <a:t>• Status operacional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969D3-D9F5-439A-90F5-90363E9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9650"/>
            <a:ext cx="2152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E3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608CF-38DA-4493-880E-D4982318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86325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5E52"/>
                </a:solidFill>
              </a:defRPr>
            </a:pPr>
            <a:r>
              <a:rPr sz="975" b="1">
                <a:solidFill>
                  <a:srgbClr val="075E52"/>
                </a:solidFill>
              </a:rPr>
              <a:t>PRECISA DE RESPOSTA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1CB66-9CF2-4D38-BB47-F929AAC7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812E5-057C-4D37-B750-542DA4B8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A6B"/>
                </a:solidFill>
              </a:defRPr>
            </a:pPr>
            <a:r>
              <a:rPr sz="2250" b="1">
                <a:solidFill>
                  <a:srgbClr val="087A6B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5D18D-6664-4713-8C3D-89B5A786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10250"/>
            <a:ext cx="84963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3BA52-BE21-430B-A0A9-B50A291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62650"/>
            <a:ext cx="788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Time vazio: o próximo passo é convidar ou escalar pessoas — não aprovar a escala.</a:t>
            </a:r>
          </a:p>
        </p:txBody>
      </p:sp>
      <p:sp>
        <p:nvSpPr>
          <p:cNvPr id="25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8538FF3F-8F56-442B-BAC0-D676ED0D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4AD4244-6D27-4A7D-AA04-0DA562B3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229787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yebrow-Etapa 3 • Convidar e decidir">
            <a:extLst xmlns:a="http://schemas.openxmlformats.org/drawingml/2006/main">
              <a:ext uri="{FF2B5EF4-FFF2-40B4-BE49-F238E27FC236}">
                <a16:creationId xmlns:a16="http://schemas.microsoft.com/office/drawing/2014/main" id="{07B012E6-0047-419C-9B1B-AB5A894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3 • CONVIDAR E DECIDIR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722629-72B2-4155-857E-018B3EBB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Convite vira serviço quando alguém responde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8A2FA-40D4-41BB-B308-2BD858B0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Culto+ distingue interesse, vínculo com a igreja, entrada na equipe e confirmação da escala.</a:t>
            </a:r>
          </a:p>
        </p:txBody>
      </p:sp>
      <p:sp>
        <p:nvSpPr>
          <p:cNvPr id="4" name="invite-flow-connector">
            <a:extLst xmlns:a="http://schemas.openxmlformats.org/drawingml/2006/main">
              <a:ext uri="{FF2B5EF4-FFF2-40B4-BE49-F238E27FC236}">
                <a16:creationId xmlns:a16="http://schemas.microsoft.com/office/drawing/2014/main" id="{0AA8477A-14C5-4FB8-9B7E-91CFD1BE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79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ejection-branch-connector">
            <a:extLst xmlns:a="http://schemas.openxmlformats.org/drawingml/2006/main">
              <a:ext uri="{FF2B5EF4-FFF2-40B4-BE49-F238E27FC236}">
                <a16:creationId xmlns:a16="http://schemas.microsoft.com/office/drawing/2014/main" id="{E7CC3B08-9C55-485C-87B4-8AE878F8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695700"/>
            <a:ext cx="285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9D7D2-65F0-457B-A2DB-8FBD0297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774D5-701D-4A69-A965-4F4D163B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0600C5-4501-45CC-BD8B-EFC958A6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41F61-EB8D-4E17-A6B9-44BDE5EE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C8DC4-343F-477F-9AA0-77FAE5E0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QR Code ou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busca de usuário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68E78-A32E-45FE-9746-3DB598D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A3EE9-1F31-4E84-94AF-1F065272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3341C-F679-4AC6-AA1A-1EC99697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B5CA5-5115-41F7-91AC-7F9AF24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Candidatura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3DE57-9175-441F-A3F7-8CF57169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Usuário envia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seu interesse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28CA7-7127-48A1-8FDF-693C5904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1CB7A-53C1-4123-98C6-B1812A0B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5C88B-8FB5-41AF-8336-9BFBA7BB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B94C0-AE70-45B8-84AE-A7252A4E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Vínculo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59CFF-758D-48C8-9B53-B7A3F620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Precisa ser membro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da igreja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082C4B-89AA-46C0-BCF0-109AD571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06A18-7BBD-414C-B669-C9B60687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1F6C9-7E4E-40C5-8DA7-88982E60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1B88B-4F1F-417D-90BE-339B5295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Decisão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C9711-F716-480F-9232-5F7C515D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Líder aprova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ou recusa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C18D72-9D77-441A-ACA5-09A85A0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9F44EE-5ED4-4AC8-B652-B64F9A57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546C5B-2AF8-4A2E-9EBF-7B8EB738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75B657-2307-452B-8B43-D7639249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Equipe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DC2BE-E389-4DDC-BA61-F4EC1140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Função e liderança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são definidas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207DD-1DAE-4991-9844-2C2D590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24150"/>
            <a:ext cx="971550" cy="971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DF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C399A-8437-4EDE-91EC-C60AEC60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71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CA2328-1B85-427B-8907-318C60CB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575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50548-5E14-46C5-BA71-D6B830E2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62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Escala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709E2D-2F50-4576-BA32-0288F99A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1543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Convite do culto</a:t>
            </a:r>
          </a:p>
          <a:p xmlns:a="http://schemas.openxmlformats.org/drawingml/2006/main">
            <a:pPr algn="ct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aguarda resposta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26AD2B-7373-40EE-BD54-4B1A6A23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62550"/>
            <a:ext cx="285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9525">
            <a:solidFill>
              <a:srgbClr val="F6C8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9FE6D3-60C5-44D1-B844-7EBAC53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76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2D6F"/>
                </a:solidFill>
              </a:defRPr>
            </a:pPr>
            <a:r>
              <a:rPr sz="1200" b="1">
                <a:solidFill>
                  <a:srgbClr val="D92D6F"/>
                </a:solidFill>
              </a:rPr>
              <a:t>Se for recusado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A4E643-05E0-4B57-9D7A-A3723714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245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878"/>
                </a:solidFill>
              </a:defRPr>
            </a:pPr>
            <a:r>
              <a:rPr sz="1125" b="0">
                <a:solidFill>
                  <a:srgbClr val="5E6878"/>
                </a:solidFill>
              </a:rPr>
              <a:t>recebe retorno e pode solicitar novamente</a:t>
            </a:r>
          </a:p>
        </p:txBody>
      </p:sp>
      <p:sp>
        <p:nvSpPr>
          <p:cNvPr id="3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41F7460B-25E3-44E2-945C-04D9ABCD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69AFBC-3579-45F5-8B86-6845D296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61777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Etapa 4 • Corrigir">
            <a:extLst xmlns:a="http://schemas.openxmlformats.org/drawingml/2006/main">
              <a:ext uri="{FF2B5EF4-FFF2-40B4-BE49-F238E27FC236}">
                <a16:creationId xmlns:a16="http://schemas.microsoft.com/office/drawing/2014/main" id="{056E7624-FCC8-44D3-8798-D784F769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ETAPA 4 • CORRIGIR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A9BFAF-694F-41DA-9F87-CBE24DF9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530"/>
                </a:solidFill>
              </a:defRPr>
            </a:pPr>
            <a:r>
              <a:rPr sz="2925" b="1">
                <a:solidFill>
                  <a:srgbClr val="0B1530"/>
                </a:solidFill>
              </a:rPr>
              <a:t>O status deve dizer o que falta — e abrir a correção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01047-5FB3-401C-AD6A-29C99D43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Status útil não descreve a tela. Ele orienta a próxima decisão do gestor.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4E9E4-E6F4-4FBD-A9E7-69A6CE55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6191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9525">
            <a:solidFill>
              <a:srgbClr val="D92D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7D076-FFE8-4F67-96C0-0D952208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145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2D6F"/>
                </a:solidFill>
              </a:defRPr>
            </a:pPr>
            <a:r>
              <a:rPr sz="1275" b="1">
                <a:solidFill>
                  <a:srgbClr val="D92D6F"/>
                </a:solidFill>
              </a:rPr>
              <a:t>SEM EQUIPE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ED454-29D0-4145-86EF-667C7D85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14575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Cadastrar ou selecionar equipe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D46B9-72ED-4974-95EA-EE29812A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8483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59A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6CF56-D092-4CEC-809A-51189CE5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575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9A2F"/>
                </a:solidFill>
              </a:defRPr>
            </a:pPr>
            <a:r>
              <a:rPr sz="1275" b="1">
                <a:solidFill>
                  <a:srgbClr val="E59A2F"/>
                </a:solidFill>
              </a:rPr>
              <a:t>AGUARDANDO VOLUNTÁRIOS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B3E06-54D0-461E-AFDB-1EE61054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57525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Abrir equipe operacional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26E59-CDCE-4E94-9863-ACE570C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55054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109AB-A51B-405A-A9D2-CD3C88C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004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28D9"/>
                </a:solidFill>
              </a:defRPr>
            </a:pPr>
            <a:r>
              <a:rPr sz="1275" b="1">
                <a:solidFill>
                  <a:srgbClr val="6D28D9"/>
                </a:solidFill>
              </a:rPr>
              <a:t>AGUARDANDO APROVAÇÃO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43D9E-53E7-419E-880A-04FF3DA3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00475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Decidir no Inbox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0EE9E-FD1D-41AF-93B5-A2BFCB5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81500"/>
            <a:ext cx="51625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8F8FA"/>
          </a:solidFill>
          <a:ln xmlns:a="http://schemas.openxmlformats.org/drawingml/2006/main" w="9525">
            <a:solidFill>
              <a:srgbClr val="117A8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73EC1-479A-4F50-B3D4-B73955D9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434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7A8B"/>
                </a:solidFill>
              </a:defRPr>
            </a:pPr>
            <a:r>
              <a:rPr sz="1275" b="1">
                <a:solidFill>
                  <a:srgbClr val="117A8B"/>
                </a:solidFill>
              </a:rPr>
              <a:t>AGUARDANDO CONFIRMAÇÕES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004B2-E6E6-488B-82BC-BBE1758F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434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Reenviar ou ajustar convites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A6BBE-BDAF-41AE-B122-008644D7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9525">
            <a:solidFill>
              <a:srgbClr val="087A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61C16-7CD0-49DD-B463-933D1194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7A6B"/>
                </a:solidFill>
              </a:defRPr>
            </a:pPr>
            <a:r>
              <a:rPr sz="1275" b="1">
                <a:solidFill>
                  <a:srgbClr val="087A6B"/>
                </a:solidFill>
              </a:rPr>
              <a:t>PRONTO PARA O CULTO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EA6E3F-10D4-40CF-A9DD-9A941EC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86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Acompanhar a operação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C804B-B887-48FF-9FB5-86D9B992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3657600" cy="33909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E48B4-7D4C-42D1-9FE9-4327E684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Regra de ouro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43D7F-6E03-490E-BE61-FF98E121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895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Clique no problema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e resolva no mesmo contexto.</a:t>
            </a:r>
          </a:p>
        </p:txBody>
      </p:sp>
      <p:sp>
        <p:nvSpPr>
          <p:cNvPr id="22" name="status-callout-rule">
            <a:extLst xmlns:a="http://schemas.openxmlformats.org/drawingml/2006/main">
              <a:ext uri="{FF2B5EF4-FFF2-40B4-BE49-F238E27FC236}">
                <a16:creationId xmlns:a16="http://schemas.microsoft.com/office/drawing/2014/main" id="{E64123C8-E122-468F-B1CA-CA26572F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33850"/>
            <a:ext cx="1219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BFB18-FD7C-4CA4-9E4E-633B7B15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Sem página intermediária.</a:t>
            </a:r>
          </a:p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Sem status otimista.</a:t>
            </a:r>
          </a:p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Sem esconder pendências.</a:t>
            </a:r>
          </a:p>
        </p:txBody>
      </p:sp>
      <p:sp>
        <p:nvSpPr>
          <p:cNvPr id="24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CF49C152-8D2A-4747-9B19-320129CE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6BAD79-727E-4BB7-A049-5E1B4B10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084847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-Prontidão operacional">
            <a:extLst xmlns:a="http://schemas.openxmlformats.org/drawingml/2006/main">
              <a:ext uri="{FF2B5EF4-FFF2-40B4-BE49-F238E27FC236}">
                <a16:creationId xmlns:a16="http://schemas.microsoft.com/office/drawing/2014/main" id="{2A0215F7-D5B0-48AC-A5EE-C76E86D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PRONTIDÃO OPERACIONAL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2FCD0F-3EB8-4E36-A70C-42C56014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100% é uma régua operacional, não um selo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AD249-F444-44CC-BF33-D8D9FEB0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percentual só avança quando os elementos necessários para aquele culto estão realmente concluídos.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0E4BC-C3A5-425E-8903-28BE628B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200" b="1">
                <a:solidFill>
                  <a:srgbClr val="075E52"/>
                </a:solidFill>
              </a:defRPr>
            </a:pPr>
            <a:r>
              <a:rPr sz="7200" b="1">
                <a:solidFill>
                  <a:srgbClr val="075E52"/>
                </a:solidFill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02015-7B84-4330-BCAF-8017EF26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pronto para celebrar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D61E6-555C-4C27-ADE6-63645E5B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36766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93E2A-F696-47BC-B45F-E5C83121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36766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5F75B7-2B11-4BA2-B2FA-7E91B384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3790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878"/>
                </a:solidFill>
              </a:defRPr>
            </a:pPr>
            <a:r>
              <a:rPr sz="1425" b="0">
                <a:solidFill>
                  <a:srgbClr val="5E6878"/>
                </a:solidFill>
              </a:rPr>
              <a:t>Alertas e pendências mostram somente o que ainda bloqueia essa conclusão.</a:t>
            </a:r>
          </a:p>
        </p:txBody>
      </p:sp>
      <p:sp>
        <p:nvSpPr>
          <p:cNvPr id="9" name="readiness-divider">
            <a:extLst xmlns:a="http://schemas.openxmlformats.org/drawingml/2006/main">
              <a:ext uri="{FF2B5EF4-FFF2-40B4-BE49-F238E27FC236}">
                <a16:creationId xmlns:a16="http://schemas.microsoft.com/office/drawing/2014/main" id="{1C252E2A-620E-4DA8-AB1B-9131CB6B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38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434C1-C889-49CF-90B7-618F9EE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C139B-7313-4791-B641-9CCE889E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383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9910D-7F33-471B-A615-B471712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Conteúdo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56D696-4A45-4C39-A121-997CDBB2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Tema, texto-base e liturgia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9C4A4-588C-4B74-8F98-1FDEA213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288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40BB2-3C3F-4060-A2CE-66642967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9A424-89BD-491A-9BC8-1FEAF2F2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95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42BA0B-F2C2-4D4F-94FD-765FECE9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10D77-7B2F-4397-814F-04BBA4F8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Equipes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BB885-52E0-44CF-97D0-F0A77EB8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Times e funções do culto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A46F6-5E51-4661-853E-7B3F3B06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7180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532C58-EC50-4844-8D70-A81AA7F1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A80C5-4460-4149-BF05-FB8C726E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38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55B10-7050-4EAC-B1DC-1D6E97A3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242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7F3AA-90CC-42EF-A818-A115D6E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Voluntários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FFD5A6-CBEA-4DC6-9327-1B45D515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Pessoas realmente escaladas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00449E-319D-4C21-A93C-971C86B7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B33AA-4F5C-4518-A2D6-24B2127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719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A6C85-47C6-4E11-969F-01E764AD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81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BE1692-71B3-4A53-8E35-0B3FFF70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67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F8E91-020F-4C82-A442-B3415A5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91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Confirmações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D88237-556B-46B6-8C60-66C863BB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Respostas registradas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FC7364-000F-41FA-A653-6650FA17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5770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2170F7-845D-4D85-AFD4-1E7D017E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14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C72BD9-0F79-450C-8CC8-21B2A1E4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DAE0D-8AE0-49D0-96FB-F1936196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10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2BF3F-56C8-4A00-844D-C59DA12E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339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530"/>
                </a:solidFill>
              </a:defRPr>
            </a:pPr>
            <a:r>
              <a:rPr sz="1500" b="1">
                <a:solidFill>
                  <a:srgbClr val="0B1530"/>
                </a:solidFill>
              </a:rPr>
              <a:t>Acesso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C32C54-9AFA-4F8A-A0CE-F372A1C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10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Local, online e QR Code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F5FEBA-D897-4023-B3A1-9EF1D04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00650"/>
            <a:ext cx="5143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E2259D-6BAF-4E4F-AF5B-0455B20F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578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7A6B"/>
                </a:solidFill>
              </a:defRPr>
            </a:pPr>
            <a:r>
              <a:rPr sz="1125" b="1">
                <a:solidFill>
                  <a:srgbClr val="087A6B"/>
                </a:solidFill>
              </a:rPr>
              <a:t>✓</a:t>
            </a:r>
          </a:p>
        </p:txBody>
      </p:sp>
      <p:sp>
        <p:nvSpPr>
          <p:cNvPr id="40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71E0A84D-938F-42DB-9D53-7C43121A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4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9C2CAB-4A21-40FC-86CE-2211E17A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8827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-Fechamento">
            <a:extLst xmlns:a="http://schemas.openxmlformats.org/drawingml/2006/main">
              <a:ext uri="{FF2B5EF4-FFF2-40B4-BE49-F238E27FC236}">
                <a16:creationId xmlns:a16="http://schemas.microsoft.com/office/drawing/2014/main" id="{007097FA-B3F7-4CF7-8E10-03EC43B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FECHAMENTO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20C350-C77F-4BBB-932D-4329F1D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A semana do culto é uma corrida de fechamento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A9145-2567-474E-A681-52837B67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objetivo não é acompanhar tudo ao mesmo tempo — é resolver a pendência certa em cada momento.</a:t>
            </a:r>
          </a:p>
        </p:txBody>
      </p:sp>
      <p:sp>
        <p:nvSpPr>
          <p:cNvPr id="4" name="week-timeline-line">
            <a:extLst xmlns:a="http://schemas.openxmlformats.org/drawingml/2006/main">
              <a:ext uri="{FF2B5EF4-FFF2-40B4-BE49-F238E27FC236}">
                <a16:creationId xmlns:a16="http://schemas.microsoft.com/office/drawing/2014/main" id="{EBD4DB6B-1469-49DA-A696-B0443960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81350"/>
            <a:ext cx="920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431F3-29DE-4342-96A6-A41ED70B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27A48-4376-4DE9-9197-635D0179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BD13E-BB85-48E8-A981-BA46DD6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T−7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9A2D9-EF8E-49C4-A018-13EA1DF2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Estruturar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3E7F3-558A-4527-84B0-4F6A36F5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Publicar o culto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Definir equipes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Abrir convites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22B58-E2A0-4917-BEE6-5472BA08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BAC16-FB5C-4D34-9327-F597720A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3EF91-1B41-4836-A7F6-1E260AB2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T−3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5C344-2337-4C50-9959-A7700B6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Confirmar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866D0-CB82-4116-A9C3-2392008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Aprovar pedidos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Revisar voluntários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Cobrar respostas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10FAF-2138-439B-8853-D4086A0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EEBF3-0063-4405-840A-E1156BF3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291A2-20C8-4693-B4C9-C9ED24D7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T−1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62CC08-A22C-4C82-A02C-6BBD599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Fechar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2D331-27B1-4B33-91B2-80626E41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Resolver ausências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Validar QR e link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Revisar alertas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25219-0B01-49D6-8E72-512D4F3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D8051-CB67-4307-8CAA-9ECF3568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52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111FFD-985A-4E8C-9C99-70769975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HOJE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94381-81F6-4AF8-852B-68041396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05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530"/>
                </a:solidFill>
              </a:defRPr>
            </a:pPr>
            <a:r>
              <a:rPr sz="1800" b="1">
                <a:solidFill>
                  <a:srgbClr val="0B1530"/>
                </a:solidFill>
              </a:rPr>
              <a:t>Operar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13C9E-17D0-4715-B2DD-32A758A8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Acompanhar equipes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Registrar presença</a:t>
            </a:r>
          </a:p>
          <a:p xmlns:a="http://schemas.openxmlformats.org/drawingml/2006/main">
            <a:pPr algn="ctr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Responder imprevistos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B663A0-C8B2-4677-95A9-31BA50B7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76900"/>
            <a:ext cx="7810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E3526D-4580-4643-8B20-3F3F44E1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8197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 lista de alertas deve diminuir conforme o culto se aproxima.</a:t>
            </a:r>
          </a:p>
        </p:txBody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7FB019D-71DF-4F9C-9415-2EAC7B2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F19659F-D142-4E6A-88FB-C41B5E9E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591517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66EAA6-BAC8-4BD2-82AC-5D0F466C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Durante o culto">
            <a:extLst xmlns:a="http://schemas.openxmlformats.org/drawingml/2006/main">
              <a:ext uri="{FF2B5EF4-FFF2-40B4-BE49-F238E27FC236}">
                <a16:creationId xmlns:a16="http://schemas.microsoft.com/office/drawing/2014/main" id="{E5C3D2D4-4CBB-4EBE-AAD9-2B7B0350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DURANTE O CULTO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B2B56-9C76-432F-A13C-4A691CB1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530"/>
                </a:solidFill>
              </a:defRPr>
            </a:pPr>
            <a:r>
              <a:rPr sz="2700" b="1">
                <a:solidFill>
                  <a:srgbClr val="0B1530"/>
                </a:solidFill>
              </a:rPr>
              <a:t>Bastidores e experiência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0931C-87F3-4C16-8534-EBBACAF4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81915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se encontram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5C5F4B-C2C0-4CAF-9D87-4441977B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A mesma programação sustenta quem participa e quem serve.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DAE36-A6C4-44D5-85AF-2BBA1FAA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049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DE8E2"/>
                </a:solidFill>
              </a:defRPr>
            </a:pPr>
            <a:r>
              <a:rPr sz="1500" b="0">
                <a:solidFill>
                  <a:srgbClr val="CDE8E2"/>
                </a:solidFill>
              </a:rPr>
              <a:t>A operação fica visível sem invadir a experiência do culto.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407B7-856B-48B0-8BFE-AC77ABB6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MEMBRO E PÚBLICO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5037A-F8FB-4F09-97BB-7FD93D89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1530"/>
                </a:solidFill>
              </a:defRPr>
            </a:pPr>
            <a:r>
              <a:rPr sz="2400" b="1">
                <a:solidFill>
                  <a:srgbClr val="0B1530"/>
                </a:solidFill>
              </a:rPr>
              <a:t>Participar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5AA60-A0C1-4D6D-B5F9-7464055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C6758-1001-4C89-BEB2-E0A7E076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EE268-A64D-47C6-B28E-8B27E51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Acessar culto presencial ou online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6EEAB-FF8B-45B2-A55B-DAED4CEA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4C0E2-1170-4CE6-A06C-A8F291F5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957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6C097-2BA3-4C4F-8416-B099EB1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Acompanhar Bíblia e momentos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CE04A-4FA3-4BD6-831B-99302F4A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8830E-35D5-4185-9DAA-E3F0C148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481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CA868-30EA-4E78-BF3F-6E33FC33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Fazer check-in e registrar presença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375FB-EDA7-4F64-9598-4806EF37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53472F-41F9-4DE8-BC6C-01E6CEAF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113EE-2F06-4EF0-BCB4-D88C6661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878"/>
                </a:solidFill>
              </a:defRPr>
            </a:pPr>
            <a:r>
              <a:rPr sz="1350" b="0">
                <a:solidFill>
                  <a:srgbClr val="5E6878"/>
                </a:solidFill>
              </a:rPr>
              <a:t>Receber conteúdo e próximos passos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9B964-8140-41C4-94DF-CF0E7578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0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D4CA"/>
                </a:solidFill>
              </a:defRPr>
            </a:pPr>
            <a:r>
              <a:rPr sz="975" b="1">
                <a:solidFill>
                  <a:srgbClr val="9ED4CA"/>
                </a:solidFill>
              </a:rPr>
              <a:t>LIDERANÇA E EQUIPES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600EC-D578-47D1-847C-959539D1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Operar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549315-8219-49E2-818F-81C404BB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C5A4E-5E12-4687-801A-3720615E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432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AA2E09-22EE-48B5-8AD0-DDF40363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Ver equipes, funções e confirmações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A9433F-74D8-4E0A-9F67-4296656F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E9C4C-911C-49F1-B9A0-B45B5097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957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BB0DD-ADA5-4647-85CD-BC55307A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Acompanhar a linha do culto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93050-E867-4992-BA0E-588F967F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00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16EC0-88E6-4180-95B9-BCE312AA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817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4F715-918C-49C5-8987-5FE1C38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815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Resolver ausências e pendências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B4599-605B-4A40-8238-FBAB03C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BB116F-CA3B-47DC-8A4C-A4190BAA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96B0D2-6387-4A11-B856-A344C454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339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Registrar decisões para o pós-culto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78653C-7595-426A-AC4A-5B0D5928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956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E4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633A9D-7E01-4805-9ADD-AFC933DD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7A6B"/>
                </a:solidFill>
              </a:defRPr>
            </a:pPr>
            <a:r>
              <a:rPr sz="2850" b="1">
                <a:solidFill>
                  <a:srgbClr val="087A6B"/>
                </a:solidFill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7CFCC1-74C5-48B0-B666-52117E13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066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EA2AA4-93A8-48D5-A0E5-2F42349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005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E52"/>
                </a:solidFill>
              </a:defRPr>
            </a:pPr>
            <a:r>
              <a:rPr sz="900" b="1">
                <a:solidFill>
                  <a:srgbClr val="075E52"/>
                </a:solidFill>
              </a:rPr>
              <a:t>UM CULTO</a:t>
            </a:r>
          </a:p>
        </p:txBody>
      </p:sp>
      <p:sp>
        <p:nvSpPr>
          <p:cNvPr id="39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E2138CEC-CFD7-403D-A891-389FF15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4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3D9948-25E9-438F-963A-F299F377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63473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-Depois do culto">
            <a:extLst xmlns:a="http://schemas.openxmlformats.org/drawingml/2006/main">
              <a:ext uri="{FF2B5EF4-FFF2-40B4-BE49-F238E27FC236}">
                <a16:creationId xmlns:a16="http://schemas.microsoft.com/office/drawing/2014/main" id="{C83B6663-CEB7-4BD5-9F60-E87CA09C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DEPOIS DO CULTO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E39C59-9EFE-45FD-B7C4-3A62D627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O pós-culto transforma presença em cuidado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4F30F-4F13-4A42-8632-181B4D3F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O encerramento operacional abre uma nova sequência: compreender, responder e acompanhar.</a:t>
            </a:r>
          </a:p>
        </p:txBody>
      </p:sp>
      <p:sp>
        <p:nvSpPr>
          <p:cNvPr id="4" name="post-cult-loop-line">
            <a:extLst xmlns:a="http://schemas.openxmlformats.org/drawingml/2006/main">
              <a:ext uri="{FF2B5EF4-FFF2-40B4-BE49-F238E27FC236}">
                <a16:creationId xmlns:a16="http://schemas.microsoft.com/office/drawing/2014/main" id="{F3F4D3B6-6E2F-4DD5-84DE-6A15BCF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A86EC-E339-4CA0-B61F-9C967842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19D81-5EE1-4ABC-82F0-B8735FA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4463D-9132-4825-9194-9A49EACE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8A5A6-BBCE-4E1E-BB5A-ED96165C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Registrar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8B2FC-0EBA-464B-AA0A-49EDE013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Presença, check-in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respostas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FA19B-DF84-4F17-985E-F86330B9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40DF1-B08A-4406-A23D-E109E777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01C99-3D05-422A-A162-3EF415C9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420CD1-22C0-49AD-BBB8-44F581F9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Compreender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E6ADE-7D03-439B-83C7-1066B96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O que aconteceu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quem precisa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84586-96C6-453A-B300-8170FC27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BE483-AFC1-48EB-95DB-CC56FB5F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75125-21CE-49EA-8C79-396B583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60326-B4C4-4579-850E-83DF4DB6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Encaminhar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7BAFAE-D049-470D-B7AB-448D9E03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Inbox pastoral,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grupo ou liderança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221803-B730-4C2B-8DC0-2242A4FD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C7BF76-A6EA-4B09-89A8-CCC3587B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7BC43-E0ED-4781-92C0-13C0F991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25FFAB-BE9B-4F89-905F-3BD025B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Acompanhar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72453-C191-4B47-AE73-476B7EE5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Retorno, oração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próximos passos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11DC3-3B94-45D4-8985-23336781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62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8F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10508C-8635-4E55-BD57-5D301E53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7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8F4B47-3DB3-45CD-95B1-A5626DE9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242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C463E-828B-442E-BE33-39185A4E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148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530"/>
                </a:solidFill>
              </a:defRPr>
            </a:pPr>
            <a:r>
              <a:rPr sz="1650" b="1">
                <a:solidFill>
                  <a:srgbClr val="0B1530"/>
                </a:solidFill>
              </a:rPr>
              <a:t>Continuar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3E4383-1F53-489E-A0AF-1917A637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9580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Devocional, plano</a:t>
            </a:r>
          </a:p>
          <a:p xmlns:a="http://schemas.openxmlformats.org/drawingml/2006/main">
            <a:pPr algn="ctr"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e próximo culto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59207D-34D8-4E4B-9126-8230DEDB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467350"/>
            <a:ext cx="8420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0FBF7"/>
          </a:solidFill>
          <a:ln xmlns:a="http://schemas.openxmlformats.org/drawingml/2006/main" w="9525">
            <a:solidFill>
              <a:srgbClr val="CDEB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5A4160-BE4C-44C3-B1C0-FD81BDCE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48325"/>
            <a:ext cx="777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5E52"/>
                </a:solidFill>
              </a:defRPr>
            </a:pPr>
            <a:r>
              <a:rPr sz="1350" b="1">
                <a:solidFill>
                  <a:srgbClr val="075E52"/>
                </a:solidFill>
              </a:rPr>
              <a:t>O cuidado preserva o contexto do culto e evita que necessidades desapareçam depois do domingo.</a:t>
            </a:r>
          </a:p>
        </p:txBody>
      </p:sp>
      <p:sp>
        <p:nvSpPr>
          <p:cNvPr id="3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A9A8FD1-F480-4419-98E7-5A731849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9A11988-E1E0-479A-A7E6-1F0CB2AE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74975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eyebrow-Visões por papel">
            <a:extLst xmlns:a="http://schemas.openxmlformats.org/drawingml/2006/main">
              <a:ext uri="{FF2B5EF4-FFF2-40B4-BE49-F238E27FC236}">
                <a16:creationId xmlns:a16="http://schemas.microsoft.com/office/drawing/2014/main" id="{CCB62D56-1662-4DE2-9BB5-C9A95004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87A6B"/>
                </a:solidFill>
              </a:defRPr>
            </a:pPr>
            <a:r>
              <a:rPr sz="900" b="1">
                <a:solidFill>
                  <a:srgbClr val="087A6B"/>
                </a:solidFill>
              </a:rPr>
              <a:t>VISÕES POR PAPEL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F3013-2F4A-46EF-9F50-B6272D2E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530"/>
                </a:solidFill>
              </a:defRPr>
            </a:pPr>
            <a:r>
              <a:rPr sz="3000" b="1">
                <a:solidFill>
                  <a:srgbClr val="0B1530"/>
                </a:solidFill>
              </a:rPr>
              <a:t>Cada pessoa vê o que precisa para agir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CE5EA-AC15-49E5-9478-C5F8D153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878"/>
                </a:solidFill>
              </a:defRPr>
            </a:pPr>
            <a:r>
              <a:rPr sz="1500" b="0">
                <a:solidFill>
                  <a:srgbClr val="5E6878"/>
                </a:solidFill>
              </a:rPr>
              <a:t>Uma conta, experiências acumulativas e responsabilidades proporcionais ao papel.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1F762-914F-49C7-BFB7-F3F2279A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1CBC9-33D8-41C0-AA68-96DA405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7F826-6FC2-429E-9A9F-148C862E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7F89C-E45C-4254-A65F-2DBAF9D6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D28D9"/>
                </a:solidFill>
              </a:defRPr>
            </a:pPr>
            <a:r>
              <a:rPr sz="1275" b="1">
                <a:solidFill>
                  <a:srgbClr val="6D28D9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7F9C0-9E21-41F2-B87A-61BFAB81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Membro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99D01-32C3-43EF-98D5-CCCD6FB1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1E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B4966-7893-4941-95E5-7B29E662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PARTICIPA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EC5D5-30E6-4244-B278-F1CCC9E7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9FE6F-6195-4CE2-881F-920B0EFD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75EE6-F62F-4D81-8A23-BADB374D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Descobre o culto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F1024-FB55-4BB5-8A9D-4D7871E3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F1DF9-2D1F-4CF4-A3D5-9937621B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90714-3DCF-4839-8235-C55747C3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Faz check-in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7AF254-743C-4BE0-A4FB-7D5931E5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FCDA5-39FD-448C-8B68-780886F2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77160-C650-4287-A9E9-745664A9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Recebe cuidado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2DCEF-5014-41B2-843C-76B9398A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8092C-D522-4F16-ACA9-598104B4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81CDE-62E8-4689-B12E-0F980020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B1571D-8A00-4FBC-9E63-5DCACCA1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2D6F"/>
                </a:solidFill>
              </a:defRPr>
            </a:pPr>
            <a:r>
              <a:rPr sz="1275" b="1">
                <a:solidFill>
                  <a:srgbClr val="D92D6F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A7DFE-733A-4493-91AC-E100B04E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Voluntário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31ED6-7C1F-47C1-BAAF-E998F460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D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B33C70-DA50-4D94-8C2E-457A06E2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2D6F"/>
                </a:solidFill>
              </a:defRPr>
            </a:pPr>
            <a:r>
              <a:rPr sz="975" b="1">
                <a:solidFill>
                  <a:srgbClr val="D92D6F"/>
                </a:solidFill>
              </a:rPr>
              <a:t>RESPONDE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2AD2F8-F368-46BF-AF24-2F03455A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73FD6-6B25-4312-A906-1C4A3578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822B2-1A2D-4855-B207-7E3213C6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Aceita convites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79DDB-CD12-46B9-A86B-C888921F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8D774-DFF7-470B-847D-ACCF0409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1879E5-F76F-44ED-AE8C-BF1E3763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Confirma escala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6EA04-B467-4E78-B396-669EEA3B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976469-1B9C-4891-ABF9-B26368DD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C75B10-F556-4636-BABB-9DC03A63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Vê sua função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18EA01-619C-4F3A-98BD-7859A60C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3B2811-A3D6-4C82-955B-3F34C74F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BD8D33-570C-4BAE-9CEF-D2D8F184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F68C77-3751-4C15-B90A-4F39FA34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59A2F"/>
                </a:solidFill>
              </a:defRPr>
            </a:pPr>
            <a:r>
              <a:rPr sz="1275" b="1">
                <a:solidFill>
                  <a:srgbClr val="E59A2F"/>
                </a:solidFill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38C33D-47C0-4219-9FEC-D11584BA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Líder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9B14A6-F3A1-4C05-9F99-D2756BA6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604A9C-BCD6-407B-9F4F-B3AA339F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59A2F"/>
                </a:solidFill>
              </a:defRPr>
            </a:pPr>
            <a:r>
              <a:rPr sz="975" b="1">
                <a:solidFill>
                  <a:srgbClr val="E59A2F"/>
                </a:solidFill>
              </a:rPr>
              <a:t>COORDENA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84F3A1-2481-40D6-A61C-738F82D3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357803-C36D-47C7-9DCF-40DBD8D7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0664D4-8DCD-491F-8B44-CB007923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Convida pessoas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A3AD7C-433A-4F2D-A332-11C2973A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11AE7F-5FB2-424B-B317-22A78EF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62FED60-2DF3-4B72-89C9-6A58BD8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Acompanha equipe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D505E5-EF7F-45D3-A9C3-DB78A0F8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1594E1-BF05-4735-8A56-1C968CD6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694954-09CF-4E6A-B3AE-A1852220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Resolve ausências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D7A634-E23D-40B0-A35D-47EB266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609850" cy="3371850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E4D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CE0546-C2D0-4E03-9DE6-0A9A2E21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6098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AB4BB1-9BA7-4BCA-BB50-4DEED690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351F5A-790E-4F04-A78F-81F8DF1C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33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A6B"/>
                </a:solidFill>
              </a:defRPr>
            </a:pPr>
            <a:r>
              <a:rPr sz="1275" b="1">
                <a:solidFill>
                  <a:srgbClr val="087A6B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481F2B-755D-4523-85BB-5C1B7CB7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530"/>
                </a:solidFill>
              </a:defRPr>
            </a:pPr>
            <a:r>
              <a:rPr sz="1875" b="1">
                <a:solidFill>
                  <a:srgbClr val="0B1530"/>
                </a:solidFill>
              </a:rPr>
              <a:t>Gestor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D62A5C-9C45-4D68-A5C2-BB480049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71900"/>
            <a:ext cx="11811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D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B2B7F3-6830-4382-B25B-D04A6FF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385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A6B"/>
                </a:solidFill>
              </a:defRPr>
            </a:pPr>
            <a:r>
              <a:rPr sz="975" b="1">
                <a:solidFill>
                  <a:srgbClr val="087A6B"/>
                </a:solidFill>
              </a:rPr>
              <a:t>CONCLUI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C88254-90AC-476B-A032-D715A6A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646CCA-A0AF-41AC-93AD-65693F67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62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86BC1D-A453-443E-96A7-8117E38E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05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Vê indicadores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FFE2D14-B69B-4C3D-A45D-EAFC5457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AF495D-16C9-4B86-AEC6-D2B70D10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743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C0A3C4-5880-4DD5-B135-F1073B75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686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Decide aprovações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89C60F-ACEC-4849-ABD4-AA4904EE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D8C027-F99E-4477-889A-445E2F46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124450"/>
            <a:ext cx="17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E5A7615-9012-4F8D-8296-4C5B394F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6730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878"/>
                </a:solidFill>
              </a:defRPr>
            </a:pPr>
            <a:r>
              <a:rPr sz="1200" b="0">
                <a:solidFill>
                  <a:srgbClr val="5E6878"/>
                </a:solidFill>
              </a:rPr>
              <a:t>Fecha pendências</a:t>
            </a:r>
          </a:p>
        </p:txBody>
      </p:sp>
      <p:sp>
        <p:nvSpPr>
          <p:cNvPr id="68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A07F7B96-1A4F-4576-8AEA-8BC6562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CULTO+  •  FLUXO DO CULTO</a:t>
            </a:r>
          </a:p>
        </p:txBody>
      </p:sp>
      <p:sp>
        <p:nvSpPr>
          <p:cNvPr id="6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13D6A99-2065-452F-87BC-E1CEAE12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0B2"/>
                </a:solidFill>
              </a:defRPr>
            </a:pPr>
            <a:r>
              <a:rPr sz="825" b="1">
                <a:solidFill>
                  <a:srgbClr val="94A0B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006056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3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brand-logo-surface">
            <a:extLst xmlns:a="http://schemas.openxmlformats.org/drawingml/2006/main">
              <a:ext uri="{FF2B5EF4-FFF2-40B4-BE49-F238E27FC236}">
                <a16:creationId xmlns:a16="http://schemas.microsoft.com/office/drawing/2014/main" id="{F2CB8B46-26FB-405C-80D7-E3676A20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714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50bb971744351"/>
          <a:stretch xmlns:a="http://schemas.openxmlformats.org/drawingml/2006/main"/>
        </p:blipFill>
        <p:spPr>
          <a:xfrm xmlns:a="http://schemas.openxmlformats.org/drawingml/2006/main">
            <a:off x="723900" y="323850"/>
            <a:ext cx="1257300" cy="628650"/>
          </a:xfrm>
          <a:prstGeom xmlns:a="http://schemas.openxmlformats.org/drawingml/2006/main" prst="rect">
            <a:avLst/>
          </a:prstGeom>
        </p:spPr>
      </p:pic>
      <p:sp>
        <p:nvSpPr>
          <p:cNvPr id="3" name="eyebrow-Próximo passo">
            <a:extLst xmlns:a="http://schemas.openxmlformats.org/drawingml/2006/main">
              <a:ext uri="{FF2B5EF4-FFF2-40B4-BE49-F238E27FC236}">
                <a16:creationId xmlns:a16="http://schemas.microsoft.com/office/drawing/2014/main" id="{A946BE24-1E02-40D1-B7A5-43123543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D4CA"/>
                </a:solidFill>
              </a:defRPr>
            </a:pPr>
            <a:r>
              <a:rPr sz="900" b="1">
                <a:solidFill>
                  <a:srgbClr val="9ED4CA"/>
                </a:solidFill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3CF68-2B51-423B-8D52-DA38E28D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76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O próximo culto começa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com quatro movimentos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43190-3949-4673-AE72-5E49C4B3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DE8E2"/>
                </a:solidFill>
              </a:defRPr>
            </a:pPr>
            <a:r>
              <a:rPr sz="1575" b="0">
                <a:solidFill>
                  <a:srgbClr val="CDE8E2"/>
                </a:solidFill>
              </a:rPr>
              <a:t>Comece simples. Deixe o status orientar a próxima ação.</a:t>
            </a:r>
          </a:p>
        </p:txBody>
      </p:sp>
      <p:sp>
        <p:nvSpPr>
          <p:cNvPr id="6" name="closing-divider">
            <a:extLst xmlns:a="http://schemas.openxmlformats.org/drawingml/2006/main">
              <a:ext uri="{FF2B5EF4-FFF2-40B4-BE49-F238E27FC236}">
                <a16:creationId xmlns:a16="http://schemas.microsoft.com/office/drawing/2014/main" id="{0A92031F-1AB5-435E-8DC1-9F586061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76400"/>
            <a:ext cx="381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7F8A5-0B44-4297-8EF3-543C0551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BD8C8-C12D-4BF8-B132-25099583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144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DB737E-E766-428D-9626-A59E0EC7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382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Criar o culto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39527-F676-47BB-AB7D-C788D23C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430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Contexto e publicação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7C6C4-6D2B-4D0B-92E9-565F062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33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1CE26-FF22-46E8-923E-52145A8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8535E-B598-4FC5-9D80-9BD93A5B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Montar a operação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3D19F-7325-42C0-B918-01B5A406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Equipes, funções e pessoas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F88F7-05F9-47F6-85F6-83C3DBA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9A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33779-6D9F-4099-83D6-F0EB7D51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24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EC0E2-C15A-46D4-A123-41DA571C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Resolver pendências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3F8AC-C8EC-42ED-B200-9CE4663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528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Aprovar, confirmar e ajustar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04A2D-D3E8-440C-966F-37901437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E2399-008C-42C7-9E6B-57354437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291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2EAF6-F68D-4F48-87D0-54C9265E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529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Celebrar e cuidar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2D398-E7B4-4142-B019-A703B0FB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5777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CD5"/>
                </a:solidFill>
              </a:defRPr>
            </a:pPr>
            <a:r>
              <a:rPr sz="1200" b="0">
                <a:solidFill>
                  <a:srgbClr val="B8DCD5"/>
                </a:solidFill>
              </a:rPr>
              <a:t>Operação, presença e retorno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DA1CB-5DE9-40C6-B1B8-E52141A7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81025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0B514A"/>
          </a:solidFill>
          <a:ln xmlns:a="http://schemas.openxmlformats.org/drawingml/2006/main" w="9525">
            <a:solidFill>
              <a:srgbClr val="2A6B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38A5B-107F-49E1-9784-D4F8CC44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ED4CA"/>
                </a:solidFill>
              </a:defRPr>
            </a:pPr>
            <a:r>
              <a:rPr sz="1200" b="1">
                <a:solidFill>
                  <a:srgbClr val="9ED4CA"/>
                </a:solidFill>
              </a:rPr>
              <a:t>CULTO+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47A00-2382-46F4-8EE4-6BD9A30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Toda a igreja em movimento.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669A9-58B5-416F-B6D4-44A49129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DE8E2"/>
                </a:solidFill>
              </a:defRPr>
            </a:pPr>
            <a:r>
              <a:rPr sz="1425" b="0">
                <a:solidFill>
                  <a:srgbClr val="CDE8E2"/>
                </a:solidFill>
              </a:rPr>
              <a:t>Planejar. Servir. Celebrar. Cuidar.</a:t>
            </a:r>
          </a:p>
        </p:txBody>
      </p:sp>
      <p:sp>
        <p:nvSpPr>
          <p:cNvPr id="27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9540C0A1-B387-4BF7-8CB5-90D5C70D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CULTO+  •  FLUXO DO CULTO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1ADA0F7-4B71-437E-A260-BA262D59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8DCD5"/>
                </a:solidFill>
              </a:defRPr>
            </a:pPr>
            <a:r>
              <a:rPr sz="825" b="1">
                <a:solidFill>
                  <a:srgbClr val="B8DCD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1346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2026-07-20T23:41:11.7450000Z</dcterms:created>
  <dcterms:modified xsi:type="dcterms:W3CDTF">2026-07-20T23:41:11.7450000Z</dcterms:modified>
</coreProperties>
</file>